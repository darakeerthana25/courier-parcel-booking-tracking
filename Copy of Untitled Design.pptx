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Source Sans 3 Bold" charset="1" panose="020B0303030403020204"/>
      <p:regular r:id="rId17"/>
    </p:embeddedFont>
    <p:embeddedFont>
      <p:font typeface="Montserrat Bold" charset="1" panose="00000800000000000000"/>
      <p:regular r:id="rId18"/>
    </p:embeddedFont>
    <p:embeddedFont>
      <p:font typeface="Source Sans 3" charset="1" panose="020B0303030403020204"/>
      <p:regular r:id="rId19"/>
    </p:embeddedFont>
    <p:embeddedFont>
      <p:font typeface="Source Sans 3 Italics" charset="1" panose="020B0303030403090204"/>
      <p:regular r:id="rId20"/>
    </p:embeddedFont>
    <p:embeddedFont>
      <p:font typeface="Merriweather Italics" charset="1" panose="000005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42900" cy="10287000"/>
            <a:chOff x="0" y="0"/>
            <a:chExt cx="4572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72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F6FA3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72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525500" y="0"/>
            <a:ext cx="4762500" cy="10287000"/>
            <a:chOff x="0" y="0"/>
            <a:chExt cx="6350000" cy="13716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6350000">
                  <a:moveTo>
                    <a:pt x="0" y="0"/>
                  </a:moveTo>
                  <a:lnTo>
                    <a:pt x="6350000" y="0"/>
                  </a:lnTo>
                  <a:lnTo>
                    <a:pt x="6350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8F1F7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6350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09650" y="1638300"/>
            <a:ext cx="1047750" cy="76200"/>
            <a:chOff x="0" y="0"/>
            <a:chExt cx="1397000" cy="1016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97000" cy="101600"/>
            </a:xfrm>
            <a:custGeom>
              <a:avLst/>
              <a:gdLst/>
              <a:ahLst/>
              <a:cxnLst/>
              <a:rect r="r" b="b" t="t" l="l"/>
              <a:pathLst>
                <a:path h="101600" w="1397000">
                  <a:moveTo>
                    <a:pt x="0" y="0"/>
                  </a:moveTo>
                  <a:lnTo>
                    <a:pt x="1397000" y="0"/>
                  </a:lnTo>
                  <a:lnTo>
                    <a:pt x="13970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D7A84B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397000" cy="13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09650" y="990600"/>
            <a:ext cx="8572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32" b="true">
                <a:solidFill>
                  <a:srgbClr val="2F6FA3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REVIEW — 1  |  ACADEMIC YEAR 2026–27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09650" y="2190750"/>
            <a:ext cx="11334750" cy="2528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22"/>
              </a:lnSpc>
            </a:pPr>
            <a:r>
              <a:rPr lang="en-US" sz="4650" b="true">
                <a:solidFill>
                  <a:srgbClr val="17365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Design and Implementation of a Database Management System for Courier Parcel Booking and Tracking Management System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09650" y="6496050"/>
            <a:ext cx="6191250" cy="421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50" b="true">
                <a:solidFill>
                  <a:srgbClr val="182433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Dara Keerthana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09650" y="7058025"/>
            <a:ext cx="8096250" cy="588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3"/>
              </a:lnSpc>
            </a:pPr>
            <a:r>
              <a:rPr lang="en-US" sz="1875">
                <a:solidFill>
                  <a:srgbClr val="607083"/>
                </a:solidFill>
                <a:latin typeface="Source Sans 3"/>
                <a:ea typeface="Source Sans 3"/>
                <a:cs typeface="Source Sans 3"/>
                <a:sym typeface="Source Sans 3"/>
              </a:rPr>
              <a:t>Roll No: 25WU0102125</a:t>
            </a:r>
          </a:p>
          <a:p>
            <a:pPr algn="l">
              <a:lnSpc>
                <a:spcPts val="2343"/>
              </a:lnSpc>
            </a:pPr>
            <a:r>
              <a:rPr lang="en-US" sz="1875">
                <a:solidFill>
                  <a:srgbClr val="607083"/>
                </a:solidFill>
                <a:latin typeface="Source Sans 3"/>
                <a:ea typeface="Source Sans 3"/>
                <a:cs typeface="Source Sans 3"/>
                <a:sym typeface="Source Sans 3"/>
              </a:rPr>
              <a:t>B.Tech AI &amp; ML (Panthers), Woxsen University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287500" y="8153400"/>
            <a:ext cx="2952750" cy="7799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94"/>
              </a:lnSpc>
            </a:pPr>
            <a:r>
              <a:rPr lang="en-US" sz="5550" b="true">
                <a:solidFill>
                  <a:srgbClr val="17365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DBMS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33350"/>
            <a:chOff x="0" y="0"/>
            <a:chExt cx="24384000" cy="177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77800"/>
            </a:xfrm>
            <a:custGeom>
              <a:avLst/>
              <a:gdLst/>
              <a:ahLst/>
              <a:cxnLst/>
              <a:rect r="r" b="b" t="t" l="l"/>
              <a:pathLst>
                <a:path h="1778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77800"/>
                  </a:lnTo>
                  <a:lnTo>
                    <a:pt x="0" y="177800"/>
                  </a:lnTo>
                  <a:close/>
                </a:path>
              </a:pathLst>
            </a:custGeom>
            <a:solidFill>
              <a:srgbClr val="2F6FA3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215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876300" y="485775"/>
            <a:ext cx="4953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20" b="true">
                <a:solidFill>
                  <a:srgbClr val="2F6FA3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02  •  COURIER DBMS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76300" y="962025"/>
            <a:ext cx="13811250" cy="565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55"/>
              </a:lnSpc>
            </a:pPr>
            <a:r>
              <a:rPr lang="en-US" sz="4050" b="true">
                <a:solidFill>
                  <a:srgbClr val="17365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Introduction</a:t>
            </a:r>
          </a:p>
        </p:txBody>
      </p:sp>
      <p:sp>
        <p:nvSpPr>
          <p:cNvPr name="AutoShape 7" id="7"/>
          <p:cNvSpPr/>
          <p:nvPr/>
        </p:nvSpPr>
        <p:spPr>
          <a:xfrm>
            <a:off x="895350" y="2076450"/>
            <a:ext cx="16497300" cy="0"/>
          </a:xfrm>
          <a:prstGeom prst="line">
            <a:avLst/>
          </a:prstGeom>
          <a:ln cap="flat" w="19050">
            <a:solidFill>
              <a:srgbClr val="E8F1F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895350" y="2552700"/>
            <a:ext cx="6191250" cy="1701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2"/>
              </a:lnSpc>
            </a:pPr>
            <a:r>
              <a:rPr lang="en-US" sz="2100">
                <a:solidFill>
                  <a:srgbClr val="182433"/>
                </a:solidFill>
                <a:latin typeface="Source Sans 3"/>
                <a:ea typeface="Source Sans 3"/>
                <a:cs typeface="Source Sans 3"/>
                <a:sym typeface="Source Sans 3"/>
              </a:rPr>
              <a:t>Courier companies process high parcel volumes every day. Manual records create errors, delays, and inconsistent updates across branches. A centralized DBMS connects bookings, tracking, routes, deliveries, charges, and payments.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95350" y="5162550"/>
            <a:ext cx="4762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20" b="true">
                <a:solidFill>
                  <a:srgbClr val="2F6FA3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PARCEL LIFECYCLE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95350" y="5572125"/>
            <a:ext cx="657225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17365D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Booking  →  Tracking  →  Delivery  →  Payment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7810500" y="3429000"/>
            <a:ext cx="2095500" cy="1028700"/>
            <a:chOff x="0" y="0"/>
            <a:chExt cx="2794000" cy="1371600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2794000" cy="1371600"/>
              <a:chOff x="0" y="0"/>
              <a:chExt cx="2794000" cy="13716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2794000" cy="1371600"/>
              </a:xfrm>
              <a:custGeom>
                <a:avLst/>
                <a:gdLst/>
                <a:ahLst/>
                <a:cxnLst/>
                <a:rect r="r" b="b" t="t" l="l"/>
                <a:pathLst>
                  <a:path h="1371600" w="2794000">
                    <a:moveTo>
                      <a:pt x="0" y="0"/>
                    </a:moveTo>
                    <a:lnTo>
                      <a:pt x="2794000" y="0"/>
                    </a:lnTo>
                    <a:lnTo>
                      <a:pt x="2794000" y="1371600"/>
                    </a:lnTo>
                    <a:lnTo>
                      <a:pt x="0" y="13716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2F6FA3"/>
                </a:solidFill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2794000" cy="1409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190500" y="473710"/>
              <a:ext cx="2413000" cy="3860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15"/>
                </a:lnSpc>
              </a:pPr>
              <a:r>
                <a:rPr lang="en-US" b="true" sz="1725">
                  <a:solidFill>
                    <a:srgbClr val="182433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Customer</a:t>
              </a:r>
            </a:p>
          </p:txBody>
        </p:sp>
      </p:grpSp>
      <p:sp>
        <p:nvSpPr>
          <p:cNvPr name="AutoShape 16" id="16"/>
          <p:cNvSpPr/>
          <p:nvPr/>
        </p:nvSpPr>
        <p:spPr>
          <a:xfrm>
            <a:off x="9953625" y="3943350"/>
            <a:ext cx="171450" cy="0"/>
          </a:xfrm>
          <a:prstGeom prst="line">
            <a:avLst/>
          </a:prstGeom>
          <a:ln cap="flat" w="28575">
            <a:solidFill>
              <a:srgbClr val="58A6C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7" id="17"/>
          <p:cNvGrpSpPr/>
          <p:nvPr/>
        </p:nvGrpSpPr>
        <p:grpSpPr>
          <a:xfrm rot="0">
            <a:off x="10172700" y="3429000"/>
            <a:ext cx="2095500" cy="1028700"/>
            <a:chOff x="0" y="0"/>
            <a:chExt cx="2794000" cy="1371600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2794000" cy="1371600"/>
              <a:chOff x="0" y="0"/>
              <a:chExt cx="2794000" cy="13716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2794000" cy="1371600"/>
              </a:xfrm>
              <a:custGeom>
                <a:avLst/>
                <a:gdLst/>
                <a:ahLst/>
                <a:cxnLst/>
                <a:rect r="r" b="b" t="t" l="l"/>
                <a:pathLst>
                  <a:path h="1371600" w="2794000">
                    <a:moveTo>
                      <a:pt x="0" y="0"/>
                    </a:moveTo>
                    <a:lnTo>
                      <a:pt x="2794000" y="0"/>
                    </a:lnTo>
                    <a:lnTo>
                      <a:pt x="2794000" y="1371600"/>
                    </a:lnTo>
                    <a:lnTo>
                      <a:pt x="0" y="13716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2F6FA3"/>
                </a:solidFill>
                <a:prstDash val="solid"/>
                <a:miter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2794000" cy="1409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190500" y="473710"/>
              <a:ext cx="2413000" cy="3860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15"/>
                </a:lnSpc>
              </a:pPr>
              <a:r>
                <a:rPr lang="en-US" sz="1725" b="true">
                  <a:solidFill>
                    <a:srgbClr val="17365D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Booking</a:t>
              </a:r>
            </a:p>
          </p:txBody>
        </p:sp>
      </p:grpSp>
      <p:sp>
        <p:nvSpPr>
          <p:cNvPr name="AutoShape 22" id="22"/>
          <p:cNvSpPr/>
          <p:nvPr/>
        </p:nvSpPr>
        <p:spPr>
          <a:xfrm>
            <a:off x="12315825" y="3943350"/>
            <a:ext cx="171450" cy="0"/>
          </a:xfrm>
          <a:prstGeom prst="line">
            <a:avLst/>
          </a:prstGeom>
          <a:ln cap="flat" w="28575">
            <a:solidFill>
              <a:srgbClr val="58A6C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3" id="23"/>
          <p:cNvGrpSpPr/>
          <p:nvPr/>
        </p:nvGrpSpPr>
        <p:grpSpPr>
          <a:xfrm rot="0">
            <a:off x="12534900" y="3429000"/>
            <a:ext cx="2095500" cy="1028700"/>
            <a:chOff x="0" y="0"/>
            <a:chExt cx="2794000" cy="1371600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0" y="0"/>
              <a:ext cx="2794000" cy="1371600"/>
              <a:chOff x="0" y="0"/>
              <a:chExt cx="2794000" cy="137160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2794000" cy="1371600"/>
              </a:xfrm>
              <a:custGeom>
                <a:avLst/>
                <a:gdLst/>
                <a:ahLst/>
                <a:cxnLst/>
                <a:rect r="r" b="b" t="t" l="l"/>
                <a:pathLst>
                  <a:path h="1371600" w="2794000">
                    <a:moveTo>
                      <a:pt x="0" y="0"/>
                    </a:moveTo>
                    <a:lnTo>
                      <a:pt x="2794000" y="0"/>
                    </a:lnTo>
                    <a:lnTo>
                      <a:pt x="2794000" y="1371600"/>
                    </a:lnTo>
                    <a:lnTo>
                      <a:pt x="0" y="13716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2F6FA3"/>
                </a:solidFill>
                <a:prstDash val="solid"/>
                <a:miter/>
              </a:ln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38100"/>
                <a:ext cx="2794000" cy="1409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7" id="27"/>
            <p:cNvSpPr txBox="true"/>
            <p:nvPr/>
          </p:nvSpPr>
          <p:spPr>
            <a:xfrm rot="0">
              <a:off x="190500" y="473710"/>
              <a:ext cx="2413000" cy="3860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15"/>
                </a:lnSpc>
              </a:pPr>
              <a:r>
                <a:rPr lang="en-US" sz="1725" b="true">
                  <a:solidFill>
                    <a:srgbClr val="17365D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Parcel</a:t>
              </a:r>
            </a:p>
          </p:txBody>
        </p:sp>
      </p:grpSp>
      <p:sp>
        <p:nvSpPr>
          <p:cNvPr name="AutoShape 28" id="28"/>
          <p:cNvSpPr/>
          <p:nvPr/>
        </p:nvSpPr>
        <p:spPr>
          <a:xfrm>
            <a:off x="14678025" y="3943350"/>
            <a:ext cx="171450" cy="0"/>
          </a:xfrm>
          <a:prstGeom prst="line">
            <a:avLst/>
          </a:prstGeom>
          <a:ln cap="flat" w="28575">
            <a:solidFill>
              <a:srgbClr val="58A6C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9" id="29"/>
          <p:cNvGrpSpPr/>
          <p:nvPr/>
        </p:nvGrpSpPr>
        <p:grpSpPr>
          <a:xfrm rot="0">
            <a:off x="14897100" y="3429000"/>
            <a:ext cx="2095500" cy="1028700"/>
            <a:chOff x="0" y="0"/>
            <a:chExt cx="2794000" cy="1371600"/>
          </a:xfrm>
        </p:grpSpPr>
        <p:grpSp>
          <p:nvGrpSpPr>
            <p:cNvPr name="Group 30" id="30"/>
            <p:cNvGrpSpPr/>
            <p:nvPr/>
          </p:nvGrpSpPr>
          <p:grpSpPr>
            <a:xfrm rot="0">
              <a:off x="0" y="0"/>
              <a:ext cx="2794000" cy="1371600"/>
              <a:chOff x="0" y="0"/>
              <a:chExt cx="2794000" cy="1371600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2794000" cy="1371600"/>
              </a:xfrm>
              <a:custGeom>
                <a:avLst/>
                <a:gdLst/>
                <a:ahLst/>
                <a:cxnLst/>
                <a:rect r="r" b="b" t="t" l="l"/>
                <a:pathLst>
                  <a:path h="1371600" w="2794000">
                    <a:moveTo>
                      <a:pt x="0" y="0"/>
                    </a:moveTo>
                    <a:lnTo>
                      <a:pt x="2794000" y="0"/>
                    </a:lnTo>
                    <a:lnTo>
                      <a:pt x="2794000" y="1371600"/>
                    </a:lnTo>
                    <a:lnTo>
                      <a:pt x="0" y="13716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2F6FA3"/>
                </a:solidFill>
                <a:prstDash val="solid"/>
                <a:miter/>
              </a:ln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38100"/>
                <a:ext cx="2794000" cy="1409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3" id="33"/>
            <p:cNvSpPr txBox="true"/>
            <p:nvPr/>
          </p:nvSpPr>
          <p:spPr>
            <a:xfrm rot="0">
              <a:off x="190500" y="473710"/>
              <a:ext cx="2413000" cy="3860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15"/>
                </a:lnSpc>
              </a:pPr>
              <a:r>
                <a:rPr lang="en-US" sz="1725" b="true">
                  <a:solidFill>
                    <a:srgbClr val="17365D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Branch / Hub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7810500" y="5219700"/>
            <a:ext cx="2095500" cy="1028700"/>
            <a:chOff x="0" y="0"/>
            <a:chExt cx="2794000" cy="1371600"/>
          </a:xfrm>
        </p:grpSpPr>
        <p:grpSp>
          <p:nvGrpSpPr>
            <p:cNvPr name="Group 35" id="35"/>
            <p:cNvGrpSpPr/>
            <p:nvPr/>
          </p:nvGrpSpPr>
          <p:grpSpPr>
            <a:xfrm rot="0">
              <a:off x="0" y="0"/>
              <a:ext cx="2794000" cy="1371600"/>
              <a:chOff x="0" y="0"/>
              <a:chExt cx="2794000" cy="137160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2794000" cy="1371600"/>
              </a:xfrm>
              <a:custGeom>
                <a:avLst/>
                <a:gdLst/>
                <a:ahLst/>
                <a:cxnLst/>
                <a:rect r="r" b="b" t="t" l="l"/>
                <a:pathLst>
                  <a:path h="1371600" w="2794000">
                    <a:moveTo>
                      <a:pt x="0" y="0"/>
                    </a:moveTo>
                    <a:lnTo>
                      <a:pt x="2794000" y="0"/>
                    </a:lnTo>
                    <a:lnTo>
                      <a:pt x="2794000" y="1371600"/>
                    </a:lnTo>
                    <a:lnTo>
                      <a:pt x="0" y="13716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2F6FA3"/>
                </a:solidFill>
                <a:prstDash val="solid"/>
                <a:miter/>
              </a:ln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-38100"/>
                <a:ext cx="2794000" cy="1409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8" id="38"/>
            <p:cNvSpPr txBox="true"/>
            <p:nvPr/>
          </p:nvSpPr>
          <p:spPr>
            <a:xfrm rot="0">
              <a:off x="190500" y="473710"/>
              <a:ext cx="2413000" cy="3860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15"/>
                </a:lnSpc>
              </a:pPr>
              <a:r>
                <a:rPr lang="en-US" sz="1725" b="true">
                  <a:solidFill>
                    <a:srgbClr val="17365D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Route</a:t>
              </a:r>
            </a:p>
          </p:txBody>
        </p:sp>
      </p:grpSp>
      <p:sp>
        <p:nvSpPr>
          <p:cNvPr name="AutoShape 39" id="39"/>
          <p:cNvSpPr/>
          <p:nvPr/>
        </p:nvSpPr>
        <p:spPr>
          <a:xfrm>
            <a:off x="9953625" y="5734050"/>
            <a:ext cx="171450" cy="0"/>
          </a:xfrm>
          <a:prstGeom prst="line">
            <a:avLst/>
          </a:prstGeom>
          <a:ln cap="flat" w="28575">
            <a:solidFill>
              <a:srgbClr val="58A6C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0" id="40"/>
          <p:cNvGrpSpPr/>
          <p:nvPr/>
        </p:nvGrpSpPr>
        <p:grpSpPr>
          <a:xfrm rot="0">
            <a:off x="10172700" y="5219700"/>
            <a:ext cx="2095500" cy="1028700"/>
            <a:chOff x="0" y="0"/>
            <a:chExt cx="2794000" cy="1371600"/>
          </a:xfrm>
        </p:grpSpPr>
        <p:grpSp>
          <p:nvGrpSpPr>
            <p:cNvPr name="Group 41" id="41"/>
            <p:cNvGrpSpPr/>
            <p:nvPr/>
          </p:nvGrpSpPr>
          <p:grpSpPr>
            <a:xfrm rot="0">
              <a:off x="0" y="0"/>
              <a:ext cx="2794000" cy="1371600"/>
              <a:chOff x="0" y="0"/>
              <a:chExt cx="2794000" cy="1371600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2794000" cy="1371600"/>
              </a:xfrm>
              <a:custGeom>
                <a:avLst/>
                <a:gdLst/>
                <a:ahLst/>
                <a:cxnLst/>
                <a:rect r="r" b="b" t="t" l="l"/>
                <a:pathLst>
                  <a:path h="1371600" w="2794000">
                    <a:moveTo>
                      <a:pt x="0" y="0"/>
                    </a:moveTo>
                    <a:lnTo>
                      <a:pt x="2794000" y="0"/>
                    </a:lnTo>
                    <a:lnTo>
                      <a:pt x="2794000" y="1371600"/>
                    </a:lnTo>
                    <a:lnTo>
                      <a:pt x="0" y="13716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2F6FA3"/>
                </a:solidFill>
                <a:prstDash val="solid"/>
                <a:miter/>
              </a:ln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0" y="-38100"/>
                <a:ext cx="2794000" cy="1409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44" id="44"/>
            <p:cNvSpPr txBox="true"/>
            <p:nvPr/>
          </p:nvSpPr>
          <p:spPr>
            <a:xfrm rot="0">
              <a:off x="190500" y="473710"/>
              <a:ext cx="2413000" cy="3860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15"/>
                </a:lnSpc>
              </a:pPr>
              <a:r>
                <a:rPr lang="en-US" sz="1725" b="true">
                  <a:solidFill>
                    <a:srgbClr val="17365D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Tracking</a:t>
              </a:r>
            </a:p>
          </p:txBody>
        </p:sp>
      </p:grpSp>
      <p:sp>
        <p:nvSpPr>
          <p:cNvPr name="AutoShape 45" id="45"/>
          <p:cNvSpPr/>
          <p:nvPr/>
        </p:nvSpPr>
        <p:spPr>
          <a:xfrm>
            <a:off x="12315825" y="5734050"/>
            <a:ext cx="171450" cy="0"/>
          </a:xfrm>
          <a:prstGeom prst="line">
            <a:avLst/>
          </a:prstGeom>
          <a:ln cap="flat" w="28575">
            <a:solidFill>
              <a:srgbClr val="58A6C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6" id="46"/>
          <p:cNvGrpSpPr/>
          <p:nvPr/>
        </p:nvGrpSpPr>
        <p:grpSpPr>
          <a:xfrm rot="0">
            <a:off x="12534900" y="5219700"/>
            <a:ext cx="2095500" cy="1028700"/>
            <a:chOff x="0" y="0"/>
            <a:chExt cx="2794000" cy="1371600"/>
          </a:xfrm>
        </p:grpSpPr>
        <p:grpSp>
          <p:nvGrpSpPr>
            <p:cNvPr name="Group 47" id="47"/>
            <p:cNvGrpSpPr/>
            <p:nvPr/>
          </p:nvGrpSpPr>
          <p:grpSpPr>
            <a:xfrm rot="0">
              <a:off x="0" y="0"/>
              <a:ext cx="2794000" cy="1371600"/>
              <a:chOff x="0" y="0"/>
              <a:chExt cx="2794000" cy="1371600"/>
            </a:xfrm>
          </p:grpSpPr>
          <p:sp>
            <p:nvSpPr>
              <p:cNvPr name="Freeform 48" id="48"/>
              <p:cNvSpPr/>
              <p:nvPr/>
            </p:nvSpPr>
            <p:spPr>
              <a:xfrm flipH="false" flipV="false" rot="0">
                <a:off x="0" y="0"/>
                <a:ext cx="2794000" cy="1371600"/>
              </a:xfrm>
              <a:custGeom>
                <a:avLst/>
                <a:gdLst/>
                <a:ahLst/>
                <a:cxnLst/>
                <a:rect r="r" b="b" t="t" l="l"/>
                <a:pathLst>
                  <a:path h="1371600" w="2794000">
                    <a:moveTo>
                      <a:pt x="0" y="0"/>
                    </a:moveTo>
                    <a:lnTo>
                      <a:pt x="2794000" y="0"/>
                    </a:lnTo>
                    <a:lnTo>
                      <a:pt x="2794000" y="1371600"/>
                    </a:lnTo>
                    <a:lnTo>
                      <a:pt x="0" y="13716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2F6FA3"/>
                </a:solidFill>
                <a:prstDash val="solid"/>
                <a:miter/>
              </a:ln>
            </p:spPr>
          </p:sp>
          <p:sp>
            <p:nvSpPr>
              <p:cNvPr name="TextBox 49" id="49"/>
              <p:cNvSpPr txBox="true"/>
              <p:nvPr/>
            </p:nvSpPr>
            <p:spPr>
              <a:xfrm>
                <a:off x="0" y="-38100"/>
                <a:ext cx="2794000" cy="1409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50" id="50"/>
            <p:cNvSpPr txBox="true"/>
            <p:nvPr/>
          </p:nvSpPr>
          <p:spPr>
            <a:xfrm rot="0">
              <a:off x="190500" y="473710"/>
              <a:ext cx="2413000" cy="3860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15"/>
                </a:lnSpc>
              </a:pPr>
              <a:r>
                <a:rPr lang="en-US" sz="1725" b="true">
                  <a:solidFill>
                    <a:srgbClr val="17365D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Delivery</a:t>
              </a:r>
            </a:p>
          </p:txBody>
        </p:sp>
      </p:grpSp>
      <p:sp>
        <p:nvSpPr>
          <p:cNvPr name="AutoShape 51" id="51"/>
          <p:cNvSpPr/>
          <p:nvPr/>
        </p:nvSpPr>
        <p:spPr>
          <a:xfrm>
            <a:off x="14678025" y="5734050"/>
            <a:ext cx="171450" cy="0"/>
          </a:xfrm>
          <a:prstGeom prst="line">
            <a:avLst/>
          </a:prstGeom>
          <a:ln cap="flat" w="28575">
            <a:solidFill>
              <a:srgbClr val="58A6C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2" id="52"/>
          <p:cNvGrpSpPr/>
          <p:nvPr/>
        </p:nvGrpSpPr>
        <p:grpSpPr>
          <a:xfrm rot="0">
            <a:off x="14897100" y="5219700"/>
            <a:ext cx="2095500" cy="1028700"/>
            <a:chOff x="0" y="0"/>
            <a:chExt cx="2794000" cy="1371600"/>
          </a:xfrm>
        </p:grpSpPr>
        <p:grpSp>
          <p:nvGrpSpPr>
            <p:cNvPr name="Group 53" id="53"/>
            <p:cNvGrpSpPr/>
            <p:nvPr/>
          </p:nvGrpSpPr>
          <p:grpSpPr>
            <a:xfrm rot="0">
              <a:off x="0" y="0"/>
              <a:ext cx="2794000" cy="1371600"/>
              <a:chOff x="0" y="0"/>
              <a:chExt cx="2794000" cy="1371600"/>
            </a:xfrm>
          </p:grpSpPr>
          <p:sp>
            <p:nvSpPr>
              <p:cNvPr name="Freeform 54" id="54"/>
              <p:cNvSpPr/>
              <p:nvPr/>
            </p:nvSpPr>
            <p:spPr>
              <a:xfrm flipH="false" flipV="false" rot="0">
                <a:off x="0" y="0"/>
                <a:ext cx="2794000" cy="1371600"/>
              </a:xfrm>
              <a:custGeom>
                <a:avLst/>
                <a:gdLst/>
                <a:ahLst/>
                <a:cxnLst/>
                <a:rect r="r" b="b" t="t" l="l"/>
                <a:pathLst>
                  <a:path h="1371600" w="2794000">
                    <a:moveTo>
                      <a:pt x="0" y="0"/>
                    </a:moveTo>
                    <a:lnTo>
                      <a:pt x="2794000" y="0"/>
                    </a:lnTo>
                    <a:lnTo>
                      <a:pt x="2794000" y="1371600"/>
                    </a:lnTo>
                    <a:lnTo>
                      <a:pt x="0" y="13716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2F6FA3"/>
                </a:solidFill>
                <a:prstDash val="solid"/>
                <a:miter/>
              </a:ln>
            </p:spPr>
          </p:sp>
          <p:sp>
            <p:nvSpPr>
              <p:cNvPr name="TextBox 55" id="55"/>
              <p:cNvSpPr txBox="true"/>
              <p:nvPr/>
            </p:nvSpPr>
            <p:spPr>
              <a:xfrm>
                <a:off x="0" y="-38100"/>
                <a:ext cx="2794000" cy="1409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56" id="56"/>
            <p:cNvSpPr txBox="true"/>
            <p:nvPr/>
          </p:nvSpPr>
          <p:spPr>
            <a:xfrm rot="0">
              <a:off x="190500" y="473710"/>
              <a:ext cx="2413000" cy="3860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15"/>
                </a:lnSpc>
              </a:pPr>
              <a:r>
                <a:rPr lang="en-US" b="true" sz="1725">
                  <a:solidFill>
                    <a:srgbClr val="182433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Payment</a:t>
              </a:r>
            </a:p>
          </p:txBody>
        </p:sp>
      </p:grpSp>
      <p:sp>
        <p:nvSpPr>
          <p:cNvPr name="AutoShape 57" id="57"/>
          <p:cNvSpPr/>
          <p:nvPr/>
        </p:nvSpPr>
        <p:spPr>
          <a:xfrm>
            <a:off x="17125950" y="4524375"/>
            <a:ext cx="0" cy="571500"/>
          </a:xfrm>
          <a:prstGeom prst="line">
            <a:avLst/>
          </a:prstGeom>
          <a:ln cap="flat" w="28575">
            <a:solidFill>
              <a:srgbClr val="58A6C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8" id="58"/>
          <p:cNvSpPr/>
          <p:nvPr/>
        </p:nvSpPr>
        <p:spPr>
          <a:xfrm flipH="true">
            <a:off x="7810500" y="5191125"/>
            <a:ext cx="9315450" cy="0"/>
          </a:xfrm>
          <a:prstGeom prst="line">
            <a:avLst/>
          </a:prstGeom>
          <a:ln cap="flat" w="28575">
            <a:solidFill>
              <a:srgbClr val="58A6C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9" id="59"/>
          <p:cNvSpPr txBox="true"/>
          <p:nvPr/>
        </p:nvSpPr>
        <p:spPr>
          <a:xfrm rot="0">
            <a:off x="16573500" y="9667875"/>
            <a:ext cx="809625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b="true" sz="1500" spc="120">
                <a:solidFill>
                  <a:srgbClr val="2F6FA3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33350"/>
            <a:chOff x="0" y="0"/>
            <a:chExt cx="24384000" cy="177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77800"/>
            </a:xfrm>
            <a:custGeom>
              <a:avLst/>
              <a:gdLst/>
              <a:ahLst/>
              <a:cxnLst/>
              <a:rect r="r" b="b" t="t" l="l"/>
              <a:pathLst>
                <a:path h="1778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77800"/>
                  </a:lnTo>
                  <a:lnTo>
                    <a:pt x="0" y="177800"/>
                  </a:lnTo>
                  <a:close/>
                </a:path>
              </a:pathLst>
            </a:custGeom>
            <a:solidFill>
              <a:srgbClr val="2F6FA3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215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876300" y="485775"/>
            <a:ext cx="4953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20" b="true">
                <a:solidFill>
                  <a:srgbClr val="2F6FA3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03  •  COURIER DBMS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76300" y="962025"/>
            <a:ext cx="13811250" cy="565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55"/>
              </a:lnSpc>
            </a:pPr>
            <a:r>
              <a:rPr lang="en-US" sz="4050" b="true">
                <a:solidFill>
                  <a:srgbClr val="17365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Problem Statement</a:t>
            </a:r>
          </a:p>
        </p:txBody>
      </p:sp>
      <p:sp>
        <p:nvSpPr>
          <p:cNvPr name="AutoShape 7" id="7"/>
          <p:cNvSpPr/>
          <p:nvPr/>
        </p:nvSpPr>
        <p:spPr>
          <a:xfrm>
            <a:off x="895350" y="2076450"/>
            <a:ext cx="16497300" cy="0"/>
          </a:xfrm>
          <a:prstGeom prst="line">
            <a:avLst/>
          </a:prstGeom>
          <a:ln cap="flat" w="19050">
            <a:solidFill>
              <a:srgbClr val="E8F1F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981075" y="2800350"/>
            <a:ext cx="6591300" cy="293370"/>
            <a:chOff x="0" y="0"/>
            <a:chExt cx="8788400" cy="391160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127000"/>
              <a:ext cx="177800" cy="177800"/>
              <a:chOff x="0" y="0"/>
              <a:chExt cx="177800" cy="177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77800" cy="177800"/>
              </a:xfrm>
              <a:custGeom>
                <a:avLst/>
                <a:gdLst/>
                <a:ahLst/>
                <a:cxnLst/>
                <a:rect r="r" b="b" t="t" l="l"/>
                <a:pathLst>
                  <a:path h="177800" w="177800">
                    <a:moveTo>
                      <a:pt x="88900" y="0"/>
                    </a:moveTo>
                    <a:cubicBezTo>
                      <a:pt x="137998" y="0"/>
                      <a:pt x="177800" y="39802"/>
                      <a:pt x="177800" y="88900"/>
                    </a:cubicBezTo>
                    <a:cubicBezTo>
                      <a:pt x="177800" y="137998"/>
                      <a:pt x="137998" y="177800"/>
                      <a:pt x="88900" y="177800"/>
                    </a:cubicBezTo>
                    <a:cubicBezTo>
                      <a:pt x="39802" y="177800"/>
                      <a:pt x="0" y="137998"/>
                      <a:pt x="0" y="88900"/>
                    </a:cubicBezTo>
                    <a:cubicBezTo>
                      <a:pt x="0" y="39802"/>
                      <a:pt x="39802" y="0"/>
                      <a:pt x="88900" y="0"/>
                    </a:cubicBezTo>
                    <a:close/>
                  </a:path>
                </a:pathLst>
              </a:custGeom>
              <a:solidFill>
                <a:srgbClr val="B84A4A"/>
              </a:solidFill>
              <a:ln cap="sq">
                <a:noFill/>
                <a:prstDash val="solid"/>
                <a:miter/>
              </a:ln>
            </p:spPr>
          </p:sp>
        </p:grpSp>
        <p:sp>
          <p:nvSpPr>
            <p:cNvPr name="TextBox 11" id="11"/>
            <p:cNvSpPr txBox="true"/>
            <p:nvPr/>
          </p:nvSpPr>
          <p:spPr>
            <a:xfrm rot="0">
              <a:off x="533400" y="-47625"/>
              <a:ext cx="8255000" cy="4387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29"/>
                </a:lnSpc>
              </a:pPr>
              <a:r>
                <a:rPr lang="en-US" sz="1950" b="true">
                  <a:solidFill>
                    <a:srgbClr val="182433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Inaccurate parcel tracking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81075" y="3581400"/>
            <a:ext cx="6591300" cy="293370"/>
            <a:chOff x="0" y="0"/>
            <a:chExt cx="8788400" cy="391160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127000"/>
              <a:ext cx="177800" cy="177800"/>
              <a:chOff x="0" y="0"/>
              <a:chExt cx="177800" cy="1778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77800" cy="177800"/>
              </a:xfrm>
              <a:custGeom>
                <a:avLst/>
                <a:gdLst/>
                <a:ahLst/>
                <a:cxnLst/>
                <a:rect r="r" b="b" t="t" l="l"/>
                <a:pathLst>
                  <a:path h="177800" w="177800">
                    <a:moveTo>
                      <a:pt x="88900" y="0"/>
                    </a:moveTo>
                    <a:cubicBezTo>
                      <a:pt x="137998" y="0"/>
                      <a:pt x="177800" y="39802"/>
                      <a:pt x="177800" y="88900"/>
                    </a:cubicBezTo>
                    <a:cubicBezTo>
                      <a:pt x="177800" y="137998"/>
                      <a:pt x="137998" y="177800"/>
                      <a:pt x="88900" y="177800"/>
                    </a:cubicBezTo>
                    <a:cubicBezTo>
                      <a:pt x="39802" y="177800"/>
                      <a:pt x="0" y="137998"/>
                      <a:pt x="0" y="88900"/>
                    </a:cubicBezTo>
                    <a:cubicBezTo>
                      <a:pt x="0" y="39802"/>
                      <a:pt x="39802" y="0"/>
                      <a:pt x="88900" y="0"/>
                    </a:cubicBezTo>
                    <a:close/>
                  </a:path>
                </a:pathLst>
              </a:custGeom>
              <a:solidFill>
                <a:srgbClr val="B84A4A"/>
              </a:solidFill>
              <a:ln cap="sq">
                <a:noFill/>
                <a:prstDash val="solid"/>
                <a:miter/>
              </a:ln>
            </p:spPr>
          </p:sp>
        </p:grpSp>
        <p:sp>
          <p:nvSpPr>
            <p:cNvPr name="TextBox 15" id="15"/>
            <p:cNvSpPr txBox="true"/>
            <p:nvPr/>
          </p:nvSpPr>
          <p:spPr>
            <a:xfrm rot="0">
              <a:off x="533400" y="-47625"/>
              <a:ext cx="8255000" cy="4387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29"/>
                </a:lnSpc>
              </a:pPr>
              <a:r>
                <a:rPr lang="en-US" sz="1950" b="true">
                  <a:solidFill>
                    <a:srgbClr val="182433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Duplicate or missing records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81075" y="4362450"/>
            <a:ext cx="6591300" cy="293370"/>
            <a:chOff x="0" y="0"/>
            <a:chExt cx="8788400" cy="391160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127000"/>
              <a:ext cx="177800" cy="177800"/>
              <a:chOff x="0" y="0"/>
              <a:chExt cx="177800" cy="1778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77800" cy="177800"/>
              </a:xfrm>
              <a:custGeom>
                <a:avLst/>
                <a:gdLst/>
                <a:ahLst/>
                <a:cxnLst/>
                <a:rect r="r" b="b" t="t" l="l"/>
                <a:pathLst>
                  <a:path h="177800" w="177800">
                    <a:moveTo>
                      <a:pt x="88900" y="0"/>
                    </a:moveTo>
                    <a:cubicBezTo>
                      <a:pt x="137998" y="0"/>
                      <a:pt x="177800" y="39802"/>
                      <a:pt x="177800" y="88900"/>
                    </a:cubicBezTo>
                    <a:cubicBezTo>
                      <a:pt x="177800" y="137998"/>
                      <a:pt x="137998" y="177800"/>
                      <a:pt x="88900" y="177800"/>
                    </a:cubicBezTo>
                    <a:cubicBezTo>
                      <a:pt x="39802" y="177800"/>
                      <a:pt x="0" y="137998"/>
                      <a:pt x="0" y="88900"/>
                    </a:cubicBezTo>
                    <a:cubicBezTo>
                      <a:pt x="0" y="39802"/>
                      <a:pt x="39802" y="0"/>
                      <a:pt x="88900" y="0"/>
                    </a:cubicBezTo>
                    <a:close/>
                  </a:path>
                </a:pathLst>
              </a:custGeom>
              <a:solidFill>
                <a:srgbClr val="B84A4A"/>
              </a:solidFill>
              <a:ln cap="sq">
                <a:noFill/>
                <a:prstDash val="solid"/>
                <a:miter/>
              </a:ln>
            </p:spPr>
          </p:sp>
        </p:grpSp>
        <p:sp>
          <p:nvSpPr>
            <p:cNvPr name="TextBox 19" id="19"/>
            <p:cNvSpPr txBox="true"/>
            <p:nvPr/>
          </p:nvSpPr>
          <p:spPr>
            <a:xfrm rot="0">
              <a:off x="533400" y="-47625"/>
              <a:ext cx="8255000" cy="4387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29"/>
                </a:lnSpc>
              </a:pPr>
              <a:r>
                <a:rPr lang="en-US" sz="1950" b="true">
                  <a:solidFill>
                    <a:srgbClr val="182433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Charge and payment errors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81075" y="5143500"/>
            <a:ext cx="6591300" cy="293370"/>
            <a:chOff x="0" y="0"/>
            <a:chExt cx="8788400" cy="391160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127000"/>
              <a:ext cx="177800" cy="177800"/>
              <a:chOff x="0" y="0"/>
              <a:chExt cx="177800" cy="1778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177800" cy="177800"/>
              </a:xfrm>
              <a:custGeom>
                <a:avLst/>
                <a:gdLst/>
                <a:ahLst/>
                <a:cxnLst/>
                <a:rect r="r" b="b" t="t" l="l"/>
                <a:pathLst>
                  <a:path h="177800" w="177800">
                    <a:moveTo>
                      <a:pt x="88900" y="0"/>
                    </a:moveTo>
                    <a:cubicBezTo>
                      <a:pt x="137998" y="0"/>
                      <a:pt x="177800" y="39802"/>
                      <a:pt x="177800" y="88900"/>
                    </a:cubicBezTo>
                    <a:cubicBezTo>
                      <a:pt x="177800" y="137998"/>
                      <a:pt x="137998" y="177800"/>
                      <a:pt x="88900" y="177800"/>
                    </a:cubicBezTo>
                    <a:cubicBezTo>
                      <a:pt x="39802" y="177800"/>
                      <a:pt x="0" y="137998"/>
                      <a:pt x="0" y="88900"/>
                    </a:cubicBezTo>
                    <a:cubicBezTo>
                      <a:pt x="0" y="39802"/>
                      <a:pt x="39802" y="0"/>
                      <a:pt x="88900" y="0"/>
                    </a:cubicBezTo>
                    <a:close/>
                  </a:path>
                </a:pathLst>
              </a:custGeom>
              <a:solidFill>
                <a:srgbClr val="B84A4A"/>
              </a:solidFill>
              <a:ln cap="sq">
                <a:noFill/>
                <a:prstDash val="solid"/>
                <a:miter/>
              </a:ln>
            </p:spPr>
          </p:sp>
        </p:grpSp>
        <p:sp>
          <p:nvSpPr>
            <p:cNvPr name="TextBox 23" id="23"/>
            <p:cNvSpPr txBox="true"/>
            <p:nvPr/>
          </p:nvSpPr>
          <p:spPr>
            <a:xfrm rot="0">
              <a:off x="533400" y="-47625"/>
              <a:ext cx="8255000" cy="4387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29"/>
                </a:lnSpc>
              </a:pPr>
              <a:r>
                <a:rPr lang="en-US" sz="1950" b="true">
                  <a:solidFill>
                    <a:srgbClr val="182433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No central movement history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81075" y="5924550"/>
            <a:ext cx="6591300" cy="293370"/>
            <a:chOff x="0" y="0"/>
            <a:chExt cx="8788400" cy="391160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127000"/>
              <a:ext cx="177800" cy="177800"/>
              <a:chOff x="0" y="0"/>
              <a:chExt cx="177800" cy="1778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177800" cy="177800"/>
              </a:xfrm>
              <a:custGeom>
                <a:avLst/>
                <a:gdLst/>
                <a:ahLst/>
                <a:cxnLst/>
                <a:rect r="r" b="b" t="t" l="l"/>
                <a:pathLst>
                  <a:path h="177800" w="177800">
                    <a:moveTo>
                      <a:pt x="88900" y="0"/>
                    </a:moveTo>
                    <a:cubicBezTo>
                      <a:pt x="137998" y="0"/>
                      <a:pt x="177800" y="39802"/>
                      <a:pt x="177800" y="88900"/>
                    </a:cubicBezTo>
                    <a:cubicBezTo>
                      <a:pt x="177800" y="137998"/>
                      <a:pt x="137998" y="177800"/>
                      <a:pt x="88900" y="177800"/>
                    </a:cubicBezTo>
                    <a:cubicBezTo>
                      <a:pt x="39802" y="177800"/>
                      <a:pt x="0" y="137998"/>
                      <a:pt x="0" y="88900"/>
                    </a:cubicBezTo>
                    <a:cubicBezTo>
                      <a:pt x="0" y="39802"/>
                      <a:pt x="39802" y="0"/>
                      <a:pt x="88900" y="0"/>
                    </a:cubicBezTo>
                    <a:close/>
                  </a:path>
                </a:pathLst>
              </a:custGeom>
              <a:solidFill>
                <a:srgbClr val="B84A4A"/>
              </a:solidFill>
              <a:ln cap="sq">
                <a:noFill/>
                <a:prstDash val="solid"/>
                <a:miter/>
              </a:ln>
            </p:spPr>
          </p:sp>
        </p:grpSp>
        <p:sp>
          <p:nvSpPr>
            <p:cNvPr name="TextBox 27" id="27"/>
            <p:cNvSpPr txBox="true"/>
            <p:nvPr/>
          </p:nvSpPr>
          <p:spPr>
            <a:xfrm rot="0">
              <a:off x="533400" y="-47625"/>
              <a:ext cx="8255000" cy="4387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29"/>
                </a:lnSpc>
              </a:pPr>
              <a:r>
                <a:rPr lang="en-US" sz="1950" b="true">
                  <a:solidFill>
                    <a:srgbClr val="182433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Delays are hard to identify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81075" y="6705600"/>
            <a:ext cx="6591300" cy="293370"/>
            <a:chOff x="0" y="0"/>
            <a:chExt cx="8788400" cy="391160"/>
          </a:xfrm>
        </p:grpSpPr>
        <p:grpSp>
          <p:nvGrpSpPr>
            <p:cNvPr name="Group 29" id="29"/>
            <p:cNvGrpSpPr/>
            <p:nvPr/>
          </p:nvGrpSpPr>
          <p:grpSpPr>
            <a:xfrm rot="0">
              <a:off x="0" y="127000"/>
              <a:ext cx="177800" cy="177800"/>
              <a:chOff x="0" y="0"/>
              <a:chExt cx="177800" cy="1778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177800" cy="177800"/>
              </a:xfrm>
              <a:custGeom>
                <a:avLst/>
                <a:gdLst/>
                <a:ahLst/>
                <a:cxnLst/>
                <a:rect r="r" b="b" t="t" l="l"/>
                <a:pathLst>
                  <a:path h="177800" w="177800">
                    <a:moveTo>
                      <a:pt x="88900" y="0"/>
                    </a:moveTo>
                    <a:cubicBezTo>
                      <a:pt x="137998" y="0"/>
                      <a:pt x="177800" y="39802"/>
                      <a:pt x="177800" y="88900"/>
                    </a:cubicBezTo>
                    <a:cubicBezTo>
                      <a:pt x="177800" y="137998"/>
                      <a:pt x="137998" y="177800"/>
                      <a:pt x="88900" y="177800"/>
                    </a:cubicBezTo>
                    <a:cubicBezTo>
                      <a:pt x="39802" y="177800"/>
                      <a:pt x="0" y="137998"/>
                      <a:pt x="0" y="88900"/>
                    </a:cubicBezTo>
                    <a:cubicBezTo>
                      <a:pt x="0" y="39802"/>
                      <a:pt x="39802" y="0"/>
                      <a:pt x="88900" y="0"/>
                    </a:cubicBezTo>
                    <a:close/>
                  </a:path>
                </a:pathLst>
              </a:custGeom>
              <a:solidFill>
                <a:srgbClr val="B84A4A"/>
              </a:solidFill>
              <a:ln cap="sq">
                <a:noFill/>
                <a:prstDash val="solid"/>
                <a:miter/>
              </a:ln>
            </p:spPr>
          </p:sp>
        </p:grpSp>
        <p:sp>
          <p:nvSpPr>
            <p:cNvPr name="TextBox 31" id="31"/>
            <p:cNvSpPr txBox="true"/>
            <p:nvPr/>
          </p:nvSpPr>
          <p:spPr>
            <a:xfrm rot="0">
              <a:off x="533400" y="-47625"/>
              <a:ext cx="8255000" cy="4387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29"/>
                </a:lnSpc>
              </a:pPr>
              <a:r>
                <a:rPr lang="en-US" sz="1950" b="true">
                  <a:solidFill>
                    <a:srgbClr val="182433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Reporting is time-consuming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81075" y="7486650"/>
            <a:ext cx="6591300" cy="293370"/>
            <a:chOff x="0" y="0"/>
            <a:chExt cx="8788400" cy="391160"/>
          </a:xfrm>
        </p:grpSpPr>
        <p:grpSp>
          <p:nvGrpSpPr>
            <p:cNvPr name="Group 33" id="33"/>
            <p:cNvGrpSpPr/>
            <p:nvPr/>
          </p:nvGrpSpPr>
          <p:grpSpPr>
            <a:xfrm rot="0">
              <a:off x="0" y="127000"/>
              <a:ext cx="177800" cy="177800"/>
              <a:chOff x="0" y="0"/>
              <a:chExt cx="177800" cy="177800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177800" cy="177800"/>
              </a:xfrm>
              <a:custGeom>
                <a:avLst/>
                <a:gdLst/>
                <a:ahLst/>
                <a:cxnLst/>
                <a:rect r="r" b="b" t="t" l="l"/>
                <a:pathLst>
                  <a:path h="177800" w="177800">
                    <a:moveTo>
                      <a:pt x="88900" y="0"/>
                    </a:moveTo>
                    <a:cubicBezTo>
                      <a:pt x="137998" y="0"/>
                      <a:pt x="177800" y="39802"/>
                      <a:pt x="177800" y="88900"/>
                    </a:cubicBezTo>
                    <a:cubicBezTo>
                      <a:pt x="177800" y="137998"/>
                      <a:pt x="137998" y="177800"/>
                      <a:pt x="88900" y="177800"/>
                    </a:cubicBezTo>
                    <a:cubicBezTo>
                      <a:pt x="39802" y="177800"/>
                      <a:pt x="0" y="137998"/>
                      <a:pt x="0" y="88900"/>
                    </a:cubicBezTo>
                    <a:cubicBezTo>
                      <a:pt x="0" y="39802"/>
                      <a:pt x="39802" y="0"/>
                      <a:pt x="88900" y="0"/>
                    </a:cubicBezTo>
                    <a:close/>
                  </a:path>
                </a:pathLst>
              </a:custGeom>
              <a:solidFill>
                <a:srgbClr val="B84A4A"/>
              </a:solidFill>
              <a:ln cap="sq">
                <a:noFill/>
                <a:prstDash val="solid"/>
                <a:miter/>
              </a:ln>
            </p:spPr>
          </p:sp>
        </p:grpSp>
        <p:sp>
          <p:nvSpPr>
            <p:cNvPr name="TextBox 35" id="35"/>
            <p:cNvSpPr txBox="true"/>
            <p:nvPr/>
          </p:nvSpPr>
          <p:spPr>
            <a:xfrm rot="0">
              <a:off x="533400" y="-47625"/>
              <a:ext cx="8255000" cy="4387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29"/>
                </a:lnSpc>
              </a:pPr>
              <a:r>
                <a:rPr lang="en-US" sz="1950" b="true">
                  <a:solidFill>
                    <a:srgbClr val="182433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Inconsistent branch / hub data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8858250" y="2724150"/>
            <a:ext cx="8096250" cy="5334000"/>
            <a:chOff x="0" y="0"/>
            <a:chExt cx="10795000" cy="71120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795000" cy="7112000"/>
            </a:xfrm>
            <a:custGeom>
              <a:avLst/>
              <a:gdLst/>
              <a:ahLst/>
              <a:cxnLst/>
              <a:rect r="r" b="b" t="t" l="l"/>
              <a:pathLst>
                <a:path h="7112000" w="10795000">
                  <a:moveTo>
                    <a:pt x="0" y="0"/>
                  </a:moveTo>
                  <a:lnTo>
                    <a:pt x="10795000" y="0"/>
                  </a:lnTo>
                  <a:lnTo>
                    <a:pt x="10795000" y="7112000"/>
                  </a:lnTo>
                  <a:lnTo>
                    <a:pt x="0" y="7112000"/>
                  </a:lnTo>
                  <a:close/>
                </a:path>
              </a:pathLst>
            </a:custGeom>
            <a:solidFill>
              <a:srgbClr val="17365D"/>
            </a:solidFill>
            <a:ln cap="sq">
              <a:noFill/>
              <a:prstDash val="solid"/>
              <a:miter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10795000" cy="715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9525000" y="3209925"/>
            <a:ext cx="6191250" cy="264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575" spc="157" b="true">
                <a:solidFill>
                  <a:srgbClr val="58A6C4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PROPOSED SOLUTION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9525000" y="3886200"/>
            <a:ext cx="6572250" cy="1017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2"/>
              </a:lnSpc>
            </a:pPr>
            <a:r>
              <a:rPr lang="en-US" sz="36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One relational database.</a:t>
            </a:r>
          </a:p>
          <a:p>
            <a:pPr algn="l">
              <a:lnSpc>
                <a:spcPts val="4032"/>
              </a:lnSpc>
            </a:pPr>
            <a:r>
              <a:rPr lang="en-US" sz="36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One reliable parcel record.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525000" y="5400675"/>
            <a:ext cx="6572250" cy="1045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Centralize customers, parcels, bookings, tracking events, charges, and payments—while enforcing consistent rules across every branch and hub.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6573500" y="9667875"/>
            <a:ext cx="809625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b="true" sz="1500" spc="120">
                <a:solidFill>
                  <a:srgbClr val="2F6FA3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33350"/>
            <a:chOff x="0" y="0"/>
            <a:chExt cx="24384000" cy="177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77800"/>
            </a:xfrm>
            <a:custGeom>
              <a:avLst/>
              <a:gdLst/>
              <a:ahLst/>
              <a:cxnLst/>
              <a:rect r="r" b="b" t="t" l="l"/>
              <a:pathLst>
                <a:path h="1778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77800"/>
                  </a:lnTo>
                  <a:lnTo>
                    <a:pt x="0" y="177800"/>
                  </a:lnTo>
                  <a:close/>
                </a:path>
              </a:pathLst>
            </a:custGeom>
            <a:solidFill>
              <a:srgbClr val="2F6FA3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215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876300" y="485775"/>
            <a:ext cx="4953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20" b="true">
                <a:solidFill>
                  <a:srgbClr val="2F6FA3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04  •  COURIER DBMS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76300" y="962025"/>
            <a:ext cx="13811250" cy="565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55"/>
              </a:lnSpc>
            </a:pPr>
            <a:r>
              <a:rPr lang="en-US" sz="4050" b="true">
                <a:solidFill>
                  <a:srgbClr val="17365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Objectives</a:t>
            </a:r>
          </a:p>
        </p:txBody>
      </p:sp>
      <p:sp>
        <p:nvSpPr>
          <p:cNvPr name="AutoShape 7" id="7"/>
          <p:cNvSpPr/>
          <p:nvPr/>
        </p:nvSpPr>
        <p:spPr>
          <a:xfrm>
            <a:off x="895350" y="2076450"/>
            <a:ext cx="16497300" cy="0"/>
          </a:xfrm>
          <a:prstGeom prst="line">
            <a:avLst/>
          </a:prstGeom>
          <a:ln cap="flat" w="19050">
            <a:solidFill>
              <a:srgbClr val="E8F1F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895350" y="2667000"/>
            <a:ext cx="5143500" cy="1504950"/>
            <a:chOff x="0" y="0"/>
            <a:chExt cx="6858000" cy="20066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858000" cy="2006600"/>
            </a:xfrm>
            <a:custGeom>
              <a:avLst/>
              <a:gdLst/>
              <a:ahLst/>
              <a:cxnLst/>
              <a:rect r="r" b="b" t="t" l="l"/>
              <a:pathLst>
                <a:path h="20066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2006600"/>
                  </a:lnTo>
                  <a:lnTo>
                    <a:pt x="0" y="20066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2F6FA3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6858000" cy="204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515100" y="2667000"/>
            <a:ext cx="5143500" cy="1504950"/>
            <a:chOff x="0" y="0"/>
            <a:chExt cx="6858000" cy="20066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858000" cy="2006600"/>
            </a:xfrm>
            <a:custGeom>
              <a:avLst/>
              <a:gdLst/>
              <a:ahLst/>
              <a:cxnLst/>
              <a:rect r="r" b="b" t="t" l="l"/>
              <a:pathLst>
                <a:path h="20066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2006600"/>
                  </a:lnTo>
                  <a:lnTo>
                    <a:pt x="0" y="20066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2F6FA3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6858000" cy="204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134850" y="2667000"/>
            <a:ext cx="5143500" cy="1504950"/>
            <a:chOff x="0" y="0"/>
            <a:chExt cx="6858000" cy="20066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858000" cy="2006600"/>
            </a:xfrm>
            <a:custGeom>
              <a:avLst/>
              <a:gdLst/>
              <a:ahLst/>
              <a:cxnLst/>
              <a:rect r="r" b="b" t="t" l="l"/>
              <a:pathLst>
                <a:path h="20066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2006600"/>
                  </a:lnTo>
                  <a:lnTo>
                    <a:pt x="0" y="20066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2F6FA3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6858000" cy="204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95350" y="4667250"/>
            <a:ext cx="5143500" cy="1504950"/>
            <a:chOff x="0" y="0"/>
            <a:chExt cx="6858000" cy="20066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858000" cy="2006600"/>
            </a:xfrm>
            <a:custGeom>
              <a:avLst/>
              <a:gdLst/>
              <a:ahLst/>
              <a:cxnLst/>
              <a:rect r="r" b="b" t="t" l="l"/>
              <a:pathLst>
                <a:path h="20066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2006600"/>
                  </a:lnTo>
                  <a:lnTo>
                    <a:pt x="0" y="20066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2F6FA3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6858000" cy="204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515100" y="4667250"/>
            <a:ext cx="5143500" cy="1504950"/>
            <a:chOff x="0" y="0"/>
            <a:chExt cx="6858000" cy="20066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858000" cy="2006600"/>
            </a:xfrm>
            <a:custGeom>
              <a:avLst/>
              <a:gdLst/>
              <a:ahLst/>
              <a:cxnLst/>
              <a:rect r="r" b="b" t="t" l="l"/>
              <a:pathLst>
                <a:path h="20066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2006600"/>
                  </a:lnTo>
                  <a:lnTo>
                    <a:pt x="0" y="20066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2F6FA3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6858000" cy="204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2134850" y="4667250"/>
            <a:ext cx="5143500" cy="1504950"/>
            <a:chOff x="0" y="0"/>
            <a:chExt cx="6858000" cy="20066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858000" cy="2006600"/>
            </a:xfrm>
            <a:custGeom>
              <a:avLst/>
              <a:gdLst/>
              <a:ahLst/>
              <a:cxnLst/>
              <a:rect r="r" b="b" t="t" l="l"/>
              <a:pathLst>
                <a:path h="20066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2006600"/>
                  </a:lnTo>
                  <a:lnTo>
                    <a:pt x="0" y="20066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2F6FA3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6858000" cy="204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895350" y="6667500"/>
            <a:ext cx="5143500" cy="1504950"/>
            <a:chOff x="0" y="0"/>
            <a:chExt cx="6858000" cy="20066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858000" cy="2006600"/>
            </a:xfrm>
            <a:custGeom>
              <a:avLst/>
              <a:gdLst/>
              <a:ahLst/>
              <a:cxnLst/>
              <a:rect r="r" b="b" t="t" l="l"/>
              <a:pathLst>
                <a:path h="20066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2006600"/>
                  </a:lnTo>
                  <a:lnTo>
                    <a:pt x="0" y="20066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2F6FA3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6858000" cy="204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515100" y="6667500"/>
            <a:ext cx="5143500" cy="1504950"/>
            <a:chOff x="0" y="0"/>
            <a:chExt cx="6858000" cy="20066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858000" cy="2006600"/>
            </a:xfrm>
            <a:custGeom>
              <a:avLst/>
              <a:gdLst/>
              <a:ahLst/>
              <a:cxnLst/>
              <a:rect r="r" b="b" t="t" l="l"/>
              <a:pathLst>
                <a:path h="20066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2006600"/>
                  </a:lnTo>
                  <a:lnTo>
                    <a:pt x="0" y="20066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2F6FA3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6858000" cy="204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2134850" y="6667500"/>
            <a:ext cx="5143500" cy="1504950"/>
            <a:chOff x="0" y="0"/>
            <a:chExt cx="6858000" cy="20066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858000" cy="2006600"/>
            </a:xfrm>
            <a:custGeom>
              <a:avLst/>
              <a:gdLst/>
              <a:ahLst/>
              <a:cxnLst/>
              <a:rect r="r" b="b" t="t" l="l"/>
              <a:pathLst>
                <a:path h="20066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2006600"/>
                  </a:lnTo>
                  <a:lnTo>
                    <a:pt x="0" y="20066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2F6FA3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6858000" cy="204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1200150" y="2867025"/>
            <a:ext cx="95250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spc="168" b="true">
                <a:solidFill>
                  <a:srgbClr val="2F6FA3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01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00150" y="3371850"/>
            <a:ext cx="476250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75" b="true">
                <a:solidFill>
                  <a:srgbClr val="182433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Centralize courier operations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6819900" y="2867025"/>
            <a:ext cx="95250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spc="168" b="true">
                <a:solidFill>
                  <a:srgbClr val="2F6FA3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02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6819900" y="3371850"/>
            <a:ext cx="476250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75" b="true">
                <a:solidFill>
                  <a:srgbClr val="182433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Maintain customer &amp; parcel data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439650" y="2867025"/>
            <a:ext cx="95250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spc="168" b="true">
                <a:solidFill>
                  <a:srgbClr val="2F6FA3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03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2439650" y="3371850"/>
            <a:ext cx="476250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75" b="true">
                <a:solidFill>
                  <a:srgbClr val="182433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Issue unique tracking numbers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200150" y="4867275"/>
            <a:ext cx="95250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spc="168" b="true">
                <a:solidFill>
                  <a:srgbClr val="2F6FA3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04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200150" y="5372100"/>
            <a:ext cx="476250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75" b="true">
                <a:solidFill>
                  <a:srgbClr val="182433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Track movement end-to-end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6819900" y="4867275"/>
            <a:ext cx="95250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spc="168" b="true">
                <a:solidFill>
                  <a:srgbClr val="2F6FA3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05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6819900" y="5372100"/>
            <a:ext cx="476250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75" b="true">
                <a:solidFill>
                  <a:srgbClr val="182433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Manage hubs, routes &amp; resources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2439650" y="4867275"/>
            <a:ext cx="95250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spc="168" b="true">
                <a:solidFill>
                  <a:srgbClr val="2F6FA3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06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2439650" y="5372100"/>
            <a:ext cx="476250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75" b="true">
                <a:solidFill>
                  <a:srgbClr val="182433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Record delivery attempts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200150" y="6867525"/>
            <a:ext cx="95250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spc="168" b="true">
                <a:solidFill>
                  <a:srgbClr val="2F6FA3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07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200150" y="7372350"/>
            <a:ext cx="476250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75" b="true">
                <a:solidFill>
                  <a:srgbClr val="182433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Calculate courier charges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6819900" y="6867525"/>
            <a:ext cx="95250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spc="168" b="true">
                <a:solidFill>
                  <a:srgbClr val="2F6FA3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08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6819900" y="7372350"/>
            <a:ext cx="476250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75" b="true">
                <a:solidFill>
                  <a:srgbClr val="182433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Maintain payment records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2439650" y="6867525"/>
            <a:ext cx="95250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spc="168" b="true">
                <a:solidFill>
                  <a:srgbClr val="2F6FA3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09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2439650" y="7372350"/>
            <a:ext cx="476250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75" b="true">
                <a:solidFill>
                  <a:srgbClr val="182433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Generate management reports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6573500" y="9667875"/>
            <a:ext cx="809625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b="true" sz="1500" spc="120">
                <a:solidFill>
                  <a:srgbClr val="2F6FA3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33350"/>
            <a:chOff x="0" y="0"/>
            <a:chExt cx="24384000" cy="177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77800"/>
            </a:xfrm>
            <a:custGeom>
              <a:avLst/>
              <a:gdLst/>
              <a:ahLst/>
              <a:cxnLst/>
              <a:rect r="r" b="b" t="t" l="l"/>
              <a:pathLst>
                <a:path h="1778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77800"/>
                  </a:lnTo>
                  <a:lnTo>
                    <a:pt x="0" y="177800"/>
                  </a:lnTo>
                  <a:close/>
                </a:path>
              </a:pathLst>
            </a:custGeom>
            <a:solidFill>
              <a:srgbClr val="2F6FA3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215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876300" y="485775"/>
            <a:ext cx="4953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20" b="true">
                <a:solidFill>
                  <a:srgbClr val="2F6FA3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05  •  COURIER DBMS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76300" y="962025"/>
            <a:ext cx="13811250" cy="565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55"/>
              </a:lnSpc>
            </a:pPr>
            <a:r>
              <a:rPr lang="en-US" sz="4050" b="true">
                <a:solidFill>
                  <a:srgbClr val="17365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Scope of the System</a:t>
            </a:r>
          </a:p>
        </p:txBody>
      </p:sp>
      <p:sp>
        <p:nvSpPr>
          <p:cNvPr name="AutoShape 7" id="7"/>
          <p:cNvSpPr/>
          <p:nvPr/>
        </p:nvSpPr>
        <p:spPr>
          <a:xfrm>
            <a:off x="895350" y="2076450"/>
            <a:ext cx="16497300" cy="0"/>
          </a:xfrm>
          <a:prstGeom prst="line">
            <a:avLst/>
          </a:prstGeom>
          <a:ln cap="flat" w="19050">
            <a:solidFill>
              <a:srgbClr val="E8F1F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895350" y="2571750"/>
            <a:ext cx="16497300" cy="1028700"/>
            <a:chOff x="0" y="0"/>
            <a:chExt cx="21996400" cy="13716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96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21996400">
                  <a:moveTo>
                    <a:pt x="0" y="0"/>
                  </a:moveTo>
                  <a:lnTo>
                    <a:pt x="21996400" y="0"/>
                  </a:lnTo>
                  <a:lnTo>
                    <a:pt x="21996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E8F1F7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1996400" cy="140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95350" y="2571750"/>
            <a:ext cx="114300" cy="1028700"/>
            <a:chOff x="0" y="0"/>
            <a:chExt cx="152400" cy="13716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2F6FA3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52400" cy="140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95350" y="3876675"/>
            <a:ext cx="16497300" cy="1028700"/>
            <a:chOff x="0" y="0"/>
            <a:chExt cx="21996400" cy="13716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996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21996400">
                  <a:moveTo>
                    <a:pt x="0" y="0"/>
                  </a:moveTo>
                  <a:lnTo>
                    <a:pt x="21996400" y="0"/>
                  </a:lnTo>
                  <a:lnTo>
                    <a:pt x="21996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F7F9FC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1996400" cy="140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95350" y="3876675"/>
            <a:ext cx="114300" cy="1028700"/>
            <a:chOff x="0" y="0"/>
            <a:chExt cx="152400" cy="13716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58A6C4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52400" cy="140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95350" y="5181600"/>
            <a:ext cx="16497300" cy="1028700"/>
            <a:chOff x="0" y="0"/>
            <a:chExt cx="21996400" cy="13716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996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21996400">
                  <a:moveTo>
                    <a:pt x="0" y="0"/>
                  </a:moveTo>
                  <a:lnTo>
                    <a:pt x="21996400" y="0"/>
                  </a:lnTo>
                  <a:lnTo>
                    <a:pt x="21996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E8F1F7"/>
            </a:soli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21996400" cy="140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895350" y="5181600"/>
            <a:ext cx="114300" cy="1028700"/>
            <a:chOff x="0" y="0"/>
            <a:chExt cx="152400" cy="13716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17365D"/>
            </a:solidFill>
            <a:ln cap="sq">
              <a:noFill/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52400" cy="140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895350" y="6486525"/>
            <a:ext cx="16497300" cy="1028700"/>
            <a:chOff x="0" y="0"/>
            <a:chExt cx="21996400" cy="13716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1996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21996400">
                  <a:moveTo>
                    <a:pt x="0" y="0"/>
                  </a:moveTo>
                  <a:lnTo>
                    <a:pt x="21996400" y="0"/>
                  </a:lnTo>
                  <a:lnTo>
                    <a:pt x="21996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F7F9FC"/>
            </a:solidFill>
            <a:ln cap="sq">
              <a:noFill/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21996400" cy="140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895350" y="6486525"/>
            <a:ext cx="114300" cy="1028700"/>
            <a:chOff x="0" y="0"/>
            <a:chExt cx="152400" cy="13716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F8065"/>
            </a:solidFill>
            <a:ln cap="sq">
              <a:noFill/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152400" cy="140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895350" y="7791450"/>
            <a:ext cx="16497300" cy="1028700"/>
            <a:chOff x="0" y="0"/>
            <a:chExt cx="21996400" cy="13716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1996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21996400">
                  <a:moveTo>
                    <a:pt x="0" y="0"/>
                  </a:moveTo>
                  <a:lnTo>
                    <a:pt x="21996400" y="0"/>
                  </a:lnTo>
                  <a:lnTo>
                    <a:pt x="21996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E8F1F7"/>
            </a:solidFill>
            <a:ln cap="sq">
              <a:noFill/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21996400" cy="140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895350" y="7791450"/>
            <a:ext cx="114300" cy="1028700"/>
            <a:chOff x="0" y="0"/>
            <a:chExt cx="152400" cy="13716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D7A84B"/>
            </a:solidFill>
            <a:ln cap="sq">
              <a:noFill/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152400" cy="140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1314450" y="2743200"/>
            <a:ext cx="409575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17365D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Customer Management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5810250" y="2857500"/>
            <a:ext cx="1066800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75">
                <a:solidFill>
                  <a:srgbClr val="182433"/>
                </a:solidFill>
                <a:latin typeface="Source Sans 3"/>
                <a:ea typeface="Source Sans 3"/>
                <a:cs typeface="Source Sans 3"/>
                <a:sym typeface="Source Sans 3"/>
              </a:rPr>
              <a:t>Registration • booking history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314450" y="4048125"/>
            <a:ext cx="409575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17365D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Parcel Management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5810250" y="4162425"/>
            <a:ext cx="1066800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75">
                <a:solidFill>
                  <a:srgbClr val="182433"/>
                </a:solidFill>
                <a:latin typeface="Source Sans 3"/>
                <a:ea typeface="Source Sans 3"/>
                <a:cs typeface="Source Sans 3"/>
                <a:sym typeface="Source Sans 3"/>
              </a:rPr>
              <a:t>Booking • tracking number • weight / dimensions • status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314450" y="5353050"/>
            <a:ext cx="409575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17365D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Courier Operations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5810250" y="5467350"/>
            <a:ext cx="1066800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75">
                <a:solidFill>
                  <a:srgbClr val="182433"/>
                </a:solidFill>
                <a:latin typeface="Source Sans 3"/>
                <a:ea typeface="Source Sans 3"/>
                <a:cs typeface="Source Sans 3"/>
                <a:sym typeface="Source Sans 3"/>
              </a:rPr>
              <a:t>Branches / hubs • routes • vehicles • delivery agents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314450" y="6657975"/>
            <a:ext cx="409575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17365D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Tracking &amp; Delivery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5810250" y="6772275"/>
            <a:ext cx="1066800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75">
                <a:solidFill>
                  <a:srgbClr val="182433"/>
                </a:solidFill>
                <a:latin typeface="Source Sans 3"/>
                <a:ea typeface="Source Sans 3"/>
                <a:cs typeface="Source Sans 3"/>
                <a:sym typeface="Source Sans 3"/>
              </a:rPr>
              <a:t>Scan events • route movement • updates • failed attempts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314450" y="7962900"/>
            <a:ext cx="409575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17365D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Financial Management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5810250" y="8077200"/>
            <a:ext cx="1066800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75">
                <a:solidFill>
                  <a:srgbClr val="182433"/>
                </a:solidFill>
                <a:latin typeface="Source Sans 3"/>
                <a:ea typeface="Source Sans 3"/>
                <a:cs typeface="Source Sans 3"/>
                <a:sym typeface="Source Sans 3"/>
              </a:rPr>
              <a:t>Charge calculation • payments • revenue reports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6573500" y="9667875"/>
            <a:ext cx="809625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b="true" sz="1500" spc="120">
                <a:solidFill>
                  <a:srgbClr val="2F6FA3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33350"/>
            <a:chOff x="0" y="0"/>
            <a:chExt cx="24384000" cy="177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77800"/>
            </a:xfrm>
            <a:custGeom>
              <a:avLst/>
              <a:gdLst/>
              <a:ahLst/>
              <a:cxnLst/>
              <a:rect r="r" b="b" t="t" l="l"/>
              <a:pathLst>
                <a:path h="1778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77800"/>
                  </a:lnTo>
                  <a:lnTo>
                    <a:pt x="0" y="177800"/>
                  </a:lnTo>
                  <a:close/>
                </a:path>
              </a:pathLst>
            </a:custGeom>
            <a:solidFill>
              <a:srgbClr val="2F6FA3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215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876300" y="485775"/>
            <a:ext cx="4953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20" b="true">
                <a:solidFill>
                  <a:srgbClr val="2F6FA3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06  •  COURIER DBMS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76300" y="962025"/>
            <a:ext cx="13811250" cy="565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55"/>
              </a:lnSpc>
            </a:pPr>
            <a:r>
              <a:rPr lang="en-US" sz="4050" b="true">
                <a:solidFill>
                  <a:srgbClr val="17365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Users &amp; Functional Requirements</a:t>
            </a:r>
          </a:p>
        </p:txBody>
      </p:sp>
      <p:sp>
        <p:nvSpPr>
          <p:cNvPr name="AutoShape 7" id="7"/>
          <p:cNvSpPr/>
          <p:nvPr/>
        </p:nvSpPr>
        <p:spPr>
          <a:xfrm>
            <a:off x="895350" y="2076450"/>
            <a:ext cx="16497300" cy="0"/>
          </a:xfrm>
          <a:prstGeom prst="line">
            <a:avLst/>
          </a:prstGeom>
          <a:ln cap="flat" w="19050">
            <a:solidFill>
              <a:srgbClr val="E8F1F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895350" y="2647950"/>
            <a:ext cx="3009900" cy="1809750"/>
            <a:chOff x="0" y="0"/>
            <a:chExt cx="4013200" cy="2413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0132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4013200">
                  <a:moveTo>
                    <a:pt x="0" y="0"/>
                  </a:moveTo>
                  <a:lnTo>
                    <a:pt x="4013200" y="0"/>
                  </a:lnTo>
                  <a:lnTo>
                    <a:pt x="4013200" y="2413000"/>
                  </a:lnTo>
                  <a:lnTo>
                    <a:pt x="0" y="24130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2F6FA3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013200" cy="2451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210050" y="2647950"/>
            <a:ext cx="3009900" cy="1809750"/>
            <a:chOff x="0" y="0"/>
            <a:chExt cx="4013200" cy="2413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0132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4013200">
                  <a:moveTo>
                    <a:pt x="0" y="0"/>
                  </a:moveTo>
                  <a:lnTo>
                    <a:pt x="4013200" y="0"/>
                  </a:lnTo>
                  <a:lnTo>
                    <a:pt x="4013200" y="2413000"/>
                  </a:lnTo>
                  <a:lnTo>
                    <a:pt x="0" y="24130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2F6FA3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013200" cy="2451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524750" y="2647950"/>
            <a:ext cx="3009900" cy="1809750"/>
            <a:chOff x="0" y="0"/>
            <a:chExt cx="4013200" cy="2413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0132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4013200">
                  <a:moveTo>
                    <a:pt x="0" y="0"/>
                  </a:moveTo>
                  <a:lnTo>
                    <a:pt x="4013200" y="0"/>
                  </a:lnTo>
                  <a:lnTo>
                    <a:pt x="4013200" y="2413000"/>
                  </a:lnTo>
                  <a:lnTo>
                    <a:pt x="0" y="24130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2F6FA3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4013200" cy="2451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839450" y="2647950"/>
            <a:ext cx="3009900" cy="1809750"/>
            <a:chOff x="0" y="0"/>
            <a:chExt cx="4013200" cy="2413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0132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4013200">
                  <a:moveTo>
                    <a:pt x="0" y="0"/>
                  </a:moveTo>
                  <a:lnTo>
                    <a:pt x="4013200" y="0"/>
                  </a:lnTo>
                  <a:lnTo>
                    <a:pt x="4013200" y="2413000"/>
                  </a:lnTo>
                  <a:lnTo>
                    <a:pt x="0" y="24130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2F6FA3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4013200" cy="2451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4154150" y="2647950"/>
            <a:ext cx="3009900" cy="1809750"/>
            <a:chOff x="0" y="0"/>
            <a:chExt cx="4013200" cy="2413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0132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4013200">
                  <a:moveTo>
                    <a:pt x="0" y="0"/>
                  </a:moveTo>
                  <a:lnTo>
                    <a:pt x="4013200" y="0"/>
                  </a:lnTo>
                  <a:lnTo>
                    <a:pt x="4013200" y="2413000"/>
                  </a:lnTo>
                  <a:lnTo>
                    <a:pt x="0" y="24130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2F6FA3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4013200" cy="2451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123950" y="2914650"/>
            <a:ext cx="255270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 b="true">
                <a:solidFill>
                  <a:srgbClr val="17365D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Customer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23950" y="3590925"/>
            <a:ext cx="2552700" cy="264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4"/>
              </a:lnSpc>
            </a:pPr>
            <a:r>
              <a:rPr lang="en-US" sz="1575">
                <a:solidFill>
                  <a:srgbClr val="607083"/>
                </a:solidFill>
                <a:latin typeface="Source Sans 3"/>
                <a:ea typeface="Source Sans 3"/>
                <a:cs typeface="Source Sans 3"/>
                <a:sym typeface="Source Sans 3"/>
              </a:rPr>
              <a:t>Book • track • view payment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438650" y="2914650"/>
            <a:ext cx="255270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 b="true">
                <a:solidFill>
                  <a:srgbClr val="17365D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Branch Staff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438650" y="3590925"/>
            <a:ext cx="2552700" cy="541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4"/>
              </a:lnSpc>
            </a:pPr>
            <a:r>
              <a:rPr lang="en-US" sz="1575">
                <a:solidFill>
                  <a:srgbClr val="607083"/>
                </a:solidFill>
                <a:latin typeface="Source Sans 3"/>
                <a:ea typeface="Source Sans 3"/>
                <a:cs typeface="Source Sans 3"/>
                <a:sym typeface="Source Sans 3"/>
              </a:rPr>
              <a:t>Book • scan • update movement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753350" y="2914650"/>
            <a:ext cx="255270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 b="true">
                <a:solidFill>
                  <a:srgbClr val="17365D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Delivery Agent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753350" y="3590925"/>
            <a:ext cx="2552700" cy="264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4"/>
              </a:lnSpc>
            </a:pPr>
            <a:r>
              <a:rPr lang="en-US" sz="1575">
                <a:solidFill>
                  <a:srgbClr val="607083"/>
                </a:solidFill>
                <a:latin typeface="Source Sans 3"/>
                <a:ea typeface="Source Sans 3"/>
                <a:cs typeface="Source Sans 3"/>
                <a:sym typeface="Source Sans 3"/>
              </a:rPr>
              <a:t>Deliver • record attempts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068050" y="2914650"/>
            <a:ext cx="255270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b="true" sz="1875">
                <a:solidFill>
                  <a:srgbClr val="17365D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Admin / Manager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068050" y="3590925"/>
            <a:ext cx="2552700" cy="264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4"/>
              </a:lnSpc>
            </a:pPr>
            <a:r>
              <a:rPr lang="en-US" sz="1575">
                <a:solidFill>
                  <a:srgbClr val="545454"/>
                </a:solidFill>
                <a:latin typeface="Source Sans 3"/>
                <a:ea typeface="Source Sans 3"/>
                <a:cs typeface="Source Sans 3"/>
                <a:sym typeface="Source Sans 3"/>
              </a:rPr>
              <a:t>Manage network • reporting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4382750" y="2914650"/>
            <a:ext cx="255270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 b="true">
                <a:solidFill>
                  <a:srgbClr val="17365D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Database Administrator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4382750" y="3590925"/>
            <a:ext cx="2552700" cy="264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4"/>
              </a:lnSpc>
            </a:pPr>
            <a:r>
              <a:rPr lang="en-US" sz="1575">
                <a:solidFill>
                  <a:srgbClr val="607083"/>
                </a:solidFill>
                <a:latin typeface="Source Sans 3"/>
                <a:ea typeface="Source Sans 3"/>
                <a:cs typeface="Source Sans 3"/>
                <a:sym typeface="Source Sans 3"/>
              </a:rPr>
              <a:t>Security • maintenance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895350" y="5162550"/>
            <a:ext cx="3810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20" b="true">
                <a:solidFill>
                  <a:srgbClr val="2F6FA3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FUNCTIONAL CORE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895350" y="5686425"/>
            <a:ext cx="15716250" cy="755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9"/>
              </a:lnSpc>
            </a:pPr>
            <a:r>
              <a:rPr lang="en-US" sz="2325">
                <a:solidFill>
                  <a:srgbClr val="182433"/>
                </a:solidFill>
                <a:latin typeface="Source Sans 3"/>
                <a:ea typeface="Source Sans 3"/>
                <a:cs typeface="Source Sans 3"/>
                <a:sym typeface="Source Sans 3"/>
              </a:rPr>
              <a:t>Customer registration  •  Parcel booking  •  Charge calculation  •  Tracking and scanning  •  Route movement  •  Agent assignment  •  Delivery updates  •  Failed-delivery handling  •  Payment management  •  Report generation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6573500" y="9667875"/>
            <a:ext cx="809625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b="true" sz="1500" spc="120">
                <a:solidFill>
                  <a:srgbClr val="2F6FA3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33350"/>
            <a:chOff x="0" y="0"/>
            <a:chExt cx="24384000" cy="177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77800"/>
            </a:xfrm>
            <a:custGeom>
              <a:avLst/>
              <a:gdLst/>
              <a:ahLst/>
              <a:cxnLst/>
              <a:rect r="r" b="b" t="t" l="l"/>
              <a:pathLst>
                <a:path h="1778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77800"/>
                  </a:lnTo>
                  <a:lnTo>
                    <a:pt x="0" y="177800"/>
                  </a:lnTo>
                  <a:close/>
                </a:path>
              </a:pathLst>
            </a:custGeom>
            <a:solidFill>
              <a:srgbClr val="2F6FA3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215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876300" y="485775"/>
            <a:ext cx="4953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20" b="true">
                <a:solidFill>
                  <a:srgbClr val="2F6FA3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07  •  COURIER DBMS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76300" y="962025"/>
            <a:ext cx="13811250" cy="565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55"/>
              </a:lnSpc>
            </a:pPr>
            <a:r>
              <a:rPr lang="en-US" sz="4050" b="true">
                <a:solidFill>
                  <a:srgbClr val="17365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Major Entities</a:t>
            </a:r>
          </a:p>
        </p:txBody>
      </p:sp>
      <p:sp>
        <p:nvSpPr>
          <p:cNvPr name="AutoShape 7" id="7"/>
          <p:cNvSpPr/>
          <p:nvPr/>
        </p:nvSpPr>
        <p:spPr>
          <a:xfrm>
            <a:off x="895350" y="2076450"/>
            <a:ext cx="16497300" cy="0"/>
          </a:xfrm>
          <a:prstGeom prst="line">
            <a:avLst/>
          </a:prstGeom>
          <a:ln cap="flat" w="19050">
            <a:solidFill>
              <a:srgbClr val="E8F1F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895350" y="2619375"/>
            <a:ext cx="3810000" cy="1066800"/>
            <a:chOff x="0" y="0"/>
            <a:chExt cx="5080000" cy="1422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080000" cy="1422400"/>
            </a:xfrm>
            <a:custGeom>
              <a:avLst/>
              <a:gdLst/>
              <a:ahLst/>
              <a:cxnLst/>
              <a:rect r="r" b="b" t="t" l="l"/>
              <a:pathLst>
                <a:path h="14224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422400"/>
                  </a:lnTo>
                  <a:lnTo>
                    <a:pt x="0" y="14224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2F6FA3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5080000" cy="1460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038725" y="2619375"/>
            <a:ext cx="3810000" cy="1066800"/>
            <a:chOff x="0" y="0"/>
            <a:chExt cx="5080000" cy="1422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080000" cy="1422400"/>
            </a:xfrm>
            <a:custGeom>
              <a:avLst/>
              <a:gdLst/>
              <a:ahLst/>
              <a:cxnLst/>
              <a:rect r="r" b="b" t="t" l="l"/>
              <a:pathLst>
                <a:path h="14224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422400"/>
                  </a:lnTo>
                  <a:lnTo>
                    <a:pt x="0" y="14224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2F6FA3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5080000" cy="1460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182100" y="2619375"/>
            <a:ext cx="3810000" cy="1066800"/>
            <a:chOff x="0" y="0"/>
            <a:chExt cx="5080000" cy="1422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080000" cy="1422400"/>
            </a:xfrm>
            <a:custGeom>
              <a:avLst/>
              <a:gdLst/>
              <a:ahLst/>
              <a:cxnLst/>
              <a:rect r="r" b="b" t="t" l="l"/>
              <a:pathLst>
                <a:path h="14224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422400"/>
                  </a:lnTo>
                  <a:lnTo>
                    <a:pt x="0" y="14224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2F6FA3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5080000" cy="1460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3325475" y="2619375"/>
            <a:ext cx="3810000" cy="1066800"/>
            <a:chOff x="0" y="0"/>
            <a:chExt cx="5080000" cy="14224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080000" cy="1422400"/>
            </a:xfrm>
            <a:custGeom>
              <a:avLst/>
              <a:gdLst/>
              <a:ahLst/>
              <a:cxnLst/>
              <a:rect r="r" b="b" t="t" l="l"/>
              <a:pathLst>
                <a:path h="14224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422400"/>
                  </a:lnTo>
                  <a:lnTo>
                    <a:pt x="0" y="14224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2F6FA3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5080000" cy="1460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95350" y="4095750"/>
            <a:ext cx="3810000" cy="1066800"/>
            <a:chOff x="0" y="0"/>
            <a:chExt cx="5080000" cy="14224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080000" cy="1422400"/>
            </a:xfrm>
            <a:custGeom>
              <a:avLst/>
              <a:gdLst/>
              <a:ahLst/>
              <a:cxnLst/>
              <a:rect r="r" b="b" t="t" l="l"/>
              <a:pathLst>
                <a:path h="14224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422400"/>
                  </a:lnTo>
                  <a:lnTo>
                    <a:pt x="0" y="14224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2F6FA3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5080000" cy="1460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5038725" y="4095750"/>
            <a:ext cx="3810000" cy="1066800"/>
            <a:chOff x="0" y="0"/>
            <a:chExt cx="5080000" cy="14224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080000" cy="1422400"/>
            </a:xfrm>
            <a:custGeom>
              <a:avLst/>
              <a:gdLst/>
              <a:ahLst/>
              <a:cxnLst/>
              <a:rect r="r" b="b" t="t" l="l"/>
              <a:pathLst>
                <a:path h="14224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422400"/>
                  </a:lnTo>
                  <a:lnTo>
                    <a:pt x="0" y="14224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2F6FA3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5080000" cy="1460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182100" y="4095750"/>
            <a:ext cx="3810000" cy="1066800"/>
            <a:chOff x="0" y="0"/>
            <a:chExt cx="5080000" cy="14224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080000" cy="1422400"/>
            </a:xfrm>
            <a:custGeom>
              <a:avLst/>
              <a:gdLst/>
              <a:ahLst/>
              <a:cxnLst/>
              <a:rect r="r" b="b" t="t" l="l"/>
              <a:pathLst>
                <a:path h="14224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422400"/>
                  </a:lnTo>
                  <a:lnTo>
                    <a:pt x="0" y="14224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2F6FA3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5080000" cy="1460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3325475" y="4095750"/>
            <a:ext cx="3810000" cy="1066800"/>
            <a:chOff x="0" y="0"/>
            <a:chExt cx="5080000" cy="14224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080000" cy="1422400"/>
            </a:xfrm>
            <a:custGeom>
              <a:avLst/>
              <a:gdLst/>
              <a:ahLst/>
              <a:cxnLst/>
              <a:rect r="r" b="b" t="t" l="l"/>
              <a:pathLst>
                <a:path h="14224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422400"/>
                  </a:lnTo>
                  <a:lnTo>
                    <a:pt x="0" y="14224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2F6FA3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5080000" cy="1460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895350" y="5572125"/>
            <a:ext cx="3810000" cy="1066800"/>
            <a:chOff x="0" y="0"/>
            <a:chExt cx="5080000" cy="14224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080000" cy="1422400"/>
            </a:xfrm>
            <a:custGeom>
              <a:avLst/>
              <a:gdLst/>
              <a:ahLst/>
              <a:cxnLst/>
              <a:rect r="r" b="b" t="t" l="l"/>
              <a:pathLst>
                <a:path h="14224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422400"/>
                  </a:lnTo>
                  <a:lnTo>
                    <a:pt x="0" y="14224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2F6FA3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5080000" cy="1460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5038725" y="5572125"/>
            <a:ext cx="3810000" cy="1066800"/>
            <a:chOff x="0" y="0"/>
            <a:chExt cx="5080000" cy="14224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080000" cy="1422400"/>
            </a:xfrm>
            <a:custGeom>
              <a:avLst/>
              <a:gdLst/>
              <a:ahLst/>
              <a:cxnLst/>
              <a:rect r="r" b="b" t="t" l="l"/>
              <a:pathLst>
                <a:path h="14224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422400"/>
                  </a:lnTo>
                  <a:lnTo>
                    <a:pt x="0" y="14224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2F6FA3"/>
              </a:solidFill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5080000" cy="1460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182100" y="5572125"/>
            <a:ext cx="3810000" cy="1066800"/>
            <a:chOff x="0" y="0"/>
            <a:chExt cx="5080000" cy="14224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080000" cy="1422400"/>
            </a:xfrm>
            <a:custGeom>
              <a:avLst/>
              <a:gdLst/>
              <a:ahLst/>
              <a:cxnLst/>
              <a:rect r="r" b="b" t="t" l="l"/>
              <a:pathLst>
                <a:path h="14224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422400"/>
                  </a:lnTo>
                  <a:lnTo>
                    <a:pt x="0" y="14224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2F6FA3"/>
              </a:solidFill>
              <a:prstDash val="solid"/>
              <a:miter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5080000" cy="1460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3325475" y="5572125"/>
            <a:ext cx="3810000" cy="1066800"/>
            <a:chOff x="0" y="0"/>
            <a:chExt cx="5080000" cy="14224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080000" cy="1422400"/>
            </a:xfrm>
            <a:custGeom>
              <a:avLst/>
              <a:gdLst/>
              <a:ahLst/>
              <a:cxnLst/>
              <a:rect r="r" b="b" t="t" l="l"/>
              <a:pathLst>
                <a:path h="14224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422400"/>
                  </a:lnTo>
                  <a:lnTo>
                    <a:pt x="0" y="14224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2F6FA3"/>
              </a:solidFill>
              <a:prstDash val="solid"/>
              <a:miter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5080000" cy="1460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895350" y="7048500"/>
            <a:ext cx="3810000" cy="1066800"/>
            <a:chOff x="0" y="0"/>
            <a:chExt cx="5080000" cy="14224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080000" cy="1422400"/>
            </a:xfrm>
            <a:custGeom>
              <a:avLst/>
              <a:gdLst/>
              <a:ahLst/>
              <a:cxnLst/>
              <a:rect r="r" b="b" t="t" l="l"/>
              <a:pathLst>
                <a:path h="14224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422400"/>
                  </a:lnTo>
                  <a:lnTo>
                    <a:pt x="0" y="14224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2F6FA3"/>
              </a:solidFill>
              <a:prstDash val="solid"/>
              <a:miter/>
            </a:ln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5080000" cy="1460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143000" y="3086100"/>
            <a:ext cx="133350" cy="133350"/>
            <a:chOff x="0" y="0"/>
            <a:chExt cx="177800" cy="1778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77800" cy="177800"/>
            </a:xfrm>
            <a:custGeom>
              <a:avLst/>
              <a:gdLst/>
              <a:ahLst/>
              <a:cxnLst/>
              <a:rect r="r" b="b" t="t" l="l"/>
              <a:pathLst>
                <a:path h="177800" w="177800">
                  <a:moveTo>
                    <a:pt x="88900" y="0"/>
                  </a:moveTo>
                  <a:cubicBezTo>
                    <a:pt x="137998" y="0"/>
                    <a:pt x="177800" y="39802"/>
                    <a:pt x="177800" y="88900"/>
                  </a:cubicBezTo>
                  <a:cubicBezTo>
                    <a:pt x="177800" y="137998"/>
                    <a:pt x="137998" y="177800"/>
                    <a:pt x="88900" y="177800"/>
                  </a:cubicBezTo>
                  <a:cubicBezTo>
                    <a:pt x="39802" y="177800"/>
                    <a:pt x="0" y="137998"/>
                    <a:pt x="0" y="88900"/>
                  </a:cubicBezTo>
                  <a:cubicBezTo>
                    <a:pt x="0" y="39802"/>
                    <a:pt x="39802" y="0"/>
                    <a:pt x="88900" y="0"/>
                  </a:cubicBezTo>
                  <a:close/>
                </a:path>
              </a:pathLst>
            </a:custGeom>
            <a:solidFill>
              <a:srgbClr val="58A6C4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49" id="49"/>
          <p:cNvSpPr txBox="true"/>
          <p:nvPr/>
        </p:nvSpPr>
        <p:spPr>
          <a:xfrm rot="0">
            <a:off x="1466850" y="2971800"/>
            <a:ext cx="285750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75" b="true">
                <a:solidFill>
                  <a:srgbClr val="17365D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Customer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5286375" y="3086100"/>
            <a:ext cx="133350" cy="133350"/>
            <a:chOff x="0" y="0"/>
            <a:chExt cx="177800" cy="1778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77800" cy="177800"/>
            </a:xfrm>
            <a:custGeom>
              <a:avLst/>
              <a:gdLst/>
              <a:ahLst/>
              <a:cxnLst/>
              <a:rect r="r" b="b" t="t" l="l"/>
              <a:pathLst>
                <a:path h="177800" w="177800">
                  <a:moveTo>
                    <a:pt x="88900" y="0"/>
                  </a:moveTo>
                  <a:cubicBezTo>
                    <a:pt x="137998" y="0"/>
                    <a:pt x="177800" y="39802"/>
                    <a:pt x="177800" y="88900"/>
                  </a:cubicBezTo>
                  <a:cubicBezTo>
                    <a:pt x="177800" y="137998"/>
                    <a:pt x="137998" y="177800"/>
                    <a:pt x="88900" y="177800"/>
                  </a:cubicBezTo>
                  <a:cubicBezTo>
                    <a:pt x="39802" y="177800"/>
                    <a:pt x="0" y="137998"/>
                    <a:pt x="0" y="88900"/>
                  </a:cubicBezTo>
                  <a:cubicBezTo>
                    <a:pt x="0" y="39802"/>
                    <a:pt x="39802" y="0"/>
                    <a:pt x="88900" y="0"/>
                  </a:cubicBezTo>
                  <a:close/>
                </a:path>
              </a:pathLst>
            </a:custGeom>
            <a:solidFill>
              <a:srgbClr val="58A6C4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52" id="52"/>
          <p:cNvSpPr txBox="true"/>
          <p:nvPr/>
        </p:nvSpPr>
        <p:spPr>
          <a:xfrm rot="0">
            <a:off x="5610225" y="2971800"/>
            <a:ext cx="285750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75" b="true">
                <a:solidFill>
                  <a:srgbClr val="17365D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Branch</a:t>
            </a:r>
          </a:p>
        </p:txBody>
      </p:sp>
      <p:grpSp>
        <p:nvGrpSpPr>
          <p:cNvPr name="Group 53" id="53"/>
          <p:cNvGrpSpPr/>
          <p:nvPr/>
        </p:nvGrpSpPr>
        <p:grpSpPr>
          <a:xfrm rot="0">
            <a:off x="9429750" y="3086100"/>
            <a:ext cx="133350" cy="133350"/>
            <a:chOff x="0" y="0"/>
            <a:chExt cx="177800" cy="1778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77800" cy="177800"/>
            </a:xfrm>
            <a:custGeom>
              <a:avLst/>
              <a:gdLst/>
              <a:ahLst/>
              <a:cxnLst/>
              <a:rect r="r" b="b" t="t" l="l"/>
              <a:pathLst>
                <a:path h="177800" w="177800">
                  <a:moveTo>
                    <a:pt x="88900" y="0"/>
                  </a:moveTo>
                  <a:cubicBezTo>
                    <a:pt x="137998" y="0"/>
                    <a:pt x="177800" y="39802"/>
                    <a:pt x="177800" y="88900"/>
                  </a:cubicBezTo>
                  <a:cubicBezTo>
                    <a:pt x="177800" y="137998"/>
                    <a:pt x="137998" y="177800"/>
                    <a:pt x="88900" y="177800"/>
                  </a:cubicBezTo>
                  <a:cubicBezTo>
                    <a:pt x="39802" y="177800"/>
                    <a:pt x="0" y="137998"/>
                    <a:pt x="0" y="88900"/>
                  </a:cubicBezTo>
                  <a:cubicBezTo>
                    <a:pt x="0" y="39802"/>
                    <a:pt x="39802" y="0"/>
                    <a:pt x="88900" y="0"/>
                  </a:cubicBezTo>
                  <a:close/>
                </a:path>
              </a:pathLst>
            </a:custGeom>
            <a:solidFill>
              <a:srgbClr val="58A6C4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55" id="55"/>
          <p:cNvSpPr txBox="true"/>
          <p:nvPr/>
        </p:nvSpPr>
        <p:spPr>
          <a:xfrm rot="0">
            <a:off x="9753600" y="2971800"/>
            <a:ext cx="285750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75" b="true">
                <a:solidFill>
                  <a:srgbClr val="17365D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Hub</a:t>
            </a:r>
          </a:p>
        </p:txBody>
      </p:sp>
      <p:grpSp>
        <p:nvGrpSpPr>
          <p:cNvPr name="Group 56" id="56"/>
          <p:cNvGrpSpPr/>
          <p:nvPr/>
        </p:nvGrpSpPr>
        <p:grpSpPr>
          <a:xfrm rot="0">
            <a:off x="13573125" y="3086100"/>
            <a:ext cx="133350" cy="133350"/>
            <a:chOff x="0" y="0"/>
            <a:chExt cx="177800" cy="1778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77800" cy="177800"/>
            </a:xfrm>
            <a:custGeom>
              <a:avLst/>
              <a:gdLst/>
              <a:ahLst/>
              <a:cxnLst/>
              <a:rect r="r" b="b" t="t" l="l"/>
              <a:pathLst>
                <a:path h="177800" w="177800">
                  <a:moveTo>
                    <a:pt x="88900" y="0"/>
                  </a:moveTo>
                  <a:cubicBezTo>
                    <a:pt x="137998" y="0"/>
                    <a:pt x="177800" y="39802"/>
                    <a:pt x="177800" y="88900"/>
                  </a:cubicBezTo>
                  <a:cubicBezTo>
                    <a:pt x="177800" y="137998"/>
                    <a:pt x="137998" y="177800"/>
                    <a:pt x="88900" y="177800"/>
                  </a:cubicBezTo>
                  <a:cubicBezTo>
                    <a:pt x="39802" y="177800"/>
                    <a:pt x="0" y="137998"/>
                    <a:pt x="0" y="88900"/>
                  </a:cubicBezTo>
                  <a:cubicBezTo>
                    <a:pt x="0" y="39802"/>
                    <a:pt x="39802" y="0"/>
                    <a:pt x="88900" y="0"/>
                  </a:cubicBezTo>
                  <a:close/>
                </a:path>
              </a:pathLst>
            </a:custGeom>
            <a:solidFill>
              <a:srgbClr val="58A6C4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58" id="58"/>
          <p:cNvSpPr txBox="true"/>
          <p:nvPr/>
        </p:nvSpPr>
        <p:spPr>
          <a:xfrm rot="0">
            <a:off x="13896975" y="2971800"/>
            <a:ext cx="285750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75" b="true">
                <a:solidFill>
                  <a:srgbClr val="17365D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Service Type</a:t>
            </a:r>
          </a:p>
        </p:txBody>
      </p:sp>
      <p:grpSp>
        <p:nvGrpSpPr>
          <p:cNvPr name="Group 59" id="59"/>
          <p:cNvGrpSpPr/>
          <p:nvPr/>
        </p:nvGrpSpPr>
        <p:grpSpPr>
          <a:xfrm rot="0">
            <a:off x="1143000" y="4562475"/>
            <a:ext cx="133350" cy="133350"/>
            <a:chOff x="0" y="0"/>
            <a:chExt cx="177800" cy="1778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77800" cy="177800"/>
            </a:xfrm>
            <a:custGeom>
              <a:avLst/>
              <a:gdLst/>
              <a:ahLst/>
              <a:cxnLst/>
              <a:rect r="r" b="b" t="t" l="l"/>
              <a:pathLst>
                <a:path h="177800" w="177800">
                  <a:moveTo>
                    <a:pt x="88900" y="0"/>
                  </a:moveTo>
                  <a:cubicBezTo>
                    <a:pt x="137998" y="0"/>
                    <a:pt x="177800" y="39802"/>
                    <a:pt x="177800" y="88900"/>
                  </a:cubicBezTo>
                  <a:cubicBezTo>
                    <a:pt x="177800" y="137998"/>
                    <a:pt x="137998" y="177800"/>
                    <a:pt x="88900" y="177800"/>
                  </a:cubicBezTo>
                  <a:cubicBezTo>
                    <a:pt x="39802" y="177800"/>
                    <a:pt x="0" y="137998"/>
                    <a:pt x="0" y="88900"/>
                  </a:cubicBezTo>
                  <a:cubicBezTo>
                    <a:pt x="0" y="39802"/>
                    <a:pt x="39802" y="0"/>
                    <a:pt x="88900" y="0"/>
                  </a:cubicBezTo>
                  <a:close/>
                </a:path>
              </a:pathLst>
            </a:custGeom>
            <a:solidFill>
              <a:srgbClr val="D7A84B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61" id="61"/>
          <p:cNvSpPr txBox="true"/>
          <p:nvPr/>
        </p:nvSpPr>
        <p:spPr>
          <a:xfrm rot="0">
            <a:off x="1466850" y="4448175"/>
            <a:ext cx="285750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75" b="true">
                <a:solidFill>
                  <a:srgbClr val="17365D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Parcel</a:t>
            </a:r>
          </a:p>
        </p:txBody>
      </p:sp>
      <p:grpSp>
        <p:nvGrpSpPr>
          <p:cNvPr name="Group 62" id="62"/>
          <p:cNvGrpSpPr/>
          <p:nvPr/>
        </p:nvGrpSpPr>
        <p:grpSpPr>
          <a:xfrm rot="0">
            <a:off x="5286375" y="4562475"/>
            <a:ext cx="133350" cy="133350"/>
            <a:chOff x="0" y="0"/>
            <a:chExt cx="177800" cy="1778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77800" cy="177800"/>
            </a:xfrm>
            <a:custGeom>
              <a:avLst/>
              <a:gdLst/>
              <a:ahLst/>
              <a:cxnLst/>
              <a:rect r="r" b="b" t="t" l="l"/>
              <a:pathLst>
                <a:path h="177800" w="177800">
                  <a:moveTo>
                    <a:pt x="88900" y="0"/>
                  </a:moveTo>
                  <a:cubicBezTo>
                    <a:pt x="137998" y="0"/>
                    <a:pt x="177800" y="39802"/>
                    <a:pt x="177800" y="88900"/>
                  </a:cubicBezTo>
                  <a:cubicBezTo>
                    <a:pt x="177800" y="137998"/>
                    <a:pt x="137998" y="177800"/>
                    <a:pt x="88900" y="177800"/>
                  </a:cubicBezTo>
                  <a:cubicBezTo>
                    <a:pt x="39802" y="177800"/>
                    <a:pt x="0" y="137998"/>
                    <a:pt x="0" y="88900"/>
                  </a:cubicBezTo>
                  <a:cubicBezTo>
                    <a:pt x="0" y="39802"/>
                    <a:pt x="39802" y="0"/>
                    <a:pt x="88900" y="0"/>
                  </a:cubicBezTo>
                  <a:close/>
                </a:path>
              </a:pathLst>
            </a:custGeom>
            <a:solidFill>
              <a:srgbClr val="D7A84B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64" id="64"/>
          <p:cNvSpPr txBox="true"/>
          <p:nvPr/>
        </p:nvSpPr>
        <p:spPr>
          <a:xfrm rot="0">
            <a:off x="5610225" y="4448175"/>
            <a:ext cx="285750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75" b="true">
                <a:solidFill>
                  <a:srgbClr val="17365D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Booking</a:t>
            </a:r>
          </a:p>
        </p:txBody>
      </p:sp>
      <p:grpSp>
        <p:nvGrpSpPr>
          <p:cNvPr name="Group 65" id="65"/>
          <p:cNvGrpSpPr/>
          <p:nvPr/>
        </p:nvGrpSpPr>
        <p:grpSpPr>
          <a:xfrm rot="0">
            <a:off x="9429750" y="4562475"/>
            <a:ext cx="133350" cy="133350"/>
            <a:chOff x="0" y="0"/>
            <a:chExt cx="177800" cy="1778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77800" cy="177800"/>
            </a:xfrm>
            <a:custGeom>
              <a:avLst/>
              <a:gdLst/>
              <a:ahLst/>
              <a:cxnLst/>
              <a:rect r="r" b="b" t="t" l="l"/>
              <a:pathLst>
                <a:path h="177800" w="177800">
                  <a:moveTo>
                    <a:pt x="88900" y="0"/>
                  </a:moveTo>
                  <a:cubicBezTo>
                    <a:pt x="137998" y="0"/>
                    <a:pt x="177800" y="39802"/>
                    <a:pt x="177800" y="88900"/>
                  </a:cubicBezTo>
                  <a:cubicBezTo>
                    <a:pt x="177800" y="137998"/>
                    <a:pt x="137998" y="177800"/>
                    <a:pt x="88900" y="177800"/>
                  </a:cubicBezTo>
                  <a:cubicBezTo>
                    <a:pt x="39802" y="177800"/>
                    <a:pt x="0" y="137998"/>
                    <a:pt x="0" y="88900"/>
                  </a:cubicBezTo>
                  <a:cubicBezTo>
                    <a:pt x="0" y="39802"/>
                    <a:pt x="39802" y="0"/>
                    <a:pt x="88900" y="0"/>
                  </a:cubicBezTo>
                  <a:close/>
                </a:path>
              </a:pathLst>
            </a:custGeom>
            <a:solidFill>
              <a:srgbClr val="58A6C4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67" id="67"/>
          <p:cNvSpPr txBox="true"/>
          <p:nvPr/>
        </p:nvSpPr>
        <p:spPr>
          <a:xfrm rot="0">
            <a:off x="9753600" y="4448175"/>
            <a:ext cx="285750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75" b="true">
                <a:solidFill>
                  <a:srgbClr val="17365D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Route</a:t>
            </a:r>
          </a:p>
        </p:txBody>
      </p:sp>
      <p:grpSp>
        <p:nvGrpSpPr>
          <p:cNvPr name="Group 68" id="68"/>
          <p:cNvGrpSpPr/>
          <p:nvPr/>
        </p:nvGrpSpPr>
        <p:grpSpPr>
          <a:xfrm rot="0">
            <a:off x="13573125" y="4562475"/>
            <a:ext cx="133350" cy="133350"/>
            <a:chOff x="0" y="0"/>
            <a:chExt cx="177800" cy="1778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77800" cy="177800"/>
            </a:xfrm>
            <a:custGeom>
              <a:avLst/>
              <a:gdLst/>
              <a:ahLst/>
              <a:cxnLst/>
              <a:rect r="r" b="b" t="t" l="l"/>
              <a:pathLst>
                <a:path h="177800" w="177800">
                  <a:moveTo>
                    <a:pt x="88900" y="0"/>
                  </a:moveTo>
                  <a:cubicBezTo>
                    <a:pt x="137998" y="0"/>
                    <a:pt x="177800" y="39802"/>
                    <a:pt x="177800" y="88900"/>
                  </a:cubicBezTo>
                  <a:cubicBezTo>
                    <a:pt x="177800" y="137998"/>
                    <a:pt x="137998" y="177800"/>
                    <a:pt x="88900" y="177800"/>
                  </a:cubicBezTo>
                  <a:cubicBezTo>
                    <a:pt x="39802" y="177800"/>
                    <a:pt x="0" y="137998"/>
                    <a:pt x="0" y="88900"/>
                  </a:cubicBezTo>
                  <a:cubicBezTo>
                    <a:pt x="0" y="39802"/>
                    <a:pt x="39802" y="0"/>
                    <a:pt x="88900" y="0"/>
                  </a:cubicBezTo>
                  <a:close/>
                </a:path>
              </a:pathLst>
            </a:custGeom>
            <a:solidFill>
              <a:srgbClr val="58A6C4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70" id="70"/>
          <p:cNvSpPr txBox="true"/>
          <p:nvPr/>
        </p:nvSpPr>
        <p:spPr>
          <a:xfrm rot="0">
            <a:off x="13896975" y="4448175"/>
            <a:ext cx="285750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75" b="true">
                <a:solidFill>
                  <a:srgbClr val="17365D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Scan Event</a:t>
            </a:r>
          </a:p>
        </p:txBody>
      </p:sp>
      <p:grpSp>
        <p:nvGrpSpPr>
          <p:cNvPr name="Group 71" id="71"/>
          <p:cNvGrpSpPr/>
          <p:nvPr/>
        </p:nvGrpSpPr>
        <p:grpSpPr>
          <a:xfrm rot="0">
            <a:off x="1143000" y="6038850"/>
            <a:ext cx="133350" cy="133350"/>
            <a:chOff x="0" y="0"/>
            <a:chExt cx="177800" cy="17780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77800" cy="177800"/>
            </a:xfrm>
            <a:custGeom>
              <a:avLst/>
              <a:gdLst/>
              <a:ahLst/>
              <a:cxnLst/>
              <a:rect r="r" b="b" t="t" l="l"/>
              <a:pathLst>
                <a:path h="177800" w="177800">
                  <a:moveTo>
                    <a:pt x="88900" y="0"/>
                  </a:moveTo>
                  <a:cubicBezTo>
                    <a:pt x="137998" y="0"/>
                    <a:pt x="177800" y="39802"/>
                    <a:pt x="177800" y="88900"/>
                  </a:cubicBezTo>
                  <a:cubicBezTo>
                    <a:pt x="177800" y="137998"/>
                    <a:pt x="137998" y="177800"/>
                    <a:pt x="88900" y="177800"/>
                  </a:cubicBezTo>
                  <a:cubicBezTo>
                    <a:pt x="39802" y="177800"/>
                    <a:pt x="0" y="137998"/>
                    <a:pt x="0" y="88900"/>
                  </a:cubicBezTo>
                  <a:cubicBezTo>
                    <a:pt x="0" y="39802"/>
                    <a:pt x="39802" y="0"/>
                    <a:pt x="88900" y="0"/>
                  </a:cubicBezTo>
                  <a:close/>
                </a:path>
              </a:pathLst>
            </a:custGeom>
            <a:solidFill>
              <a:srgbClr val="58A6C4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73" id="73"/>
          <p:cNvSpPr txBox="true"/>
          <p:nvPr/>
        </p:nvSpPr>
        <p:spPr>
          <a:xfrm rot="0">
            <a:off x="1466850" y="5924550"/>
            <a:ext cx="285750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75" b="true">
                <a:solidFill>
                  <a:srgbClr val="17365D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Vehicle</a:t>
            </a:r>
          </a:p>
        </p:txBody>
      </p:sp>
      <p:grpSp>
        <p:nvGrpSpPr>
          <p:cNvPr name="Group 74" id="74"/>
          <p:cNvGrpSpPr/>
          <p:nvPr/>
        </p:nvGrpSpPr>
        <p:grpSpPr>
          <a:xfrm rot="0">
            <a:off x="5286375" y="6038850"/>
            <a:ext cx="133350" cy="133350"/>
            <a:chOff x="0" y="0"/>
            <a:chExt cx="177800" cy="17780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77800" cy="177800"/>
            </a:xfrm>
            <a:custGeom>
              <a:avLst/>
              <a:gdLst/>
              <a:ahLst/>
              <a:cxnLst/>
              <a:rect r="r" b="b" t="t" l="l"/>
              <a:pathLst>
                <a:path h="177800" w="177800">
                  <a:moveTo>
                    <a:pt x="88900" y="0"/>
                  </a:moveTo>
                  <a:cubicBezTo>
                    <a:pt x="137998" y="0"/>
                    <a:pt x="177800" y="39802"/>
                    <a:pt x="177800" y="88900"/>
                  </a:cubicBezTo>
                  <a:cubicBezTo>
                    <a:pt x="177800" y="137998"/>
                    <a:pt x="137998" y="177800"/>
                    <a:pt x="88900" y="177800"/>
                  </a:cubicBezTo>
                  <a:cubicBezTo>
                    <a:pt x="39802" y="177800"/>
                    <a:pt x="0" y="137998"/>
                    <a:pt x="0" y="88900"/>
                  </a:cubicBezTo>
                  <a:cubicBezTo>
                    <a:pt x="0" y="39802"/>
                    <a:pt x="39802" y="0"/>
                    <a:pt x="88900" y="0"/>
                  </a:cubicBezTo>
                  <a:close/>
                </a:path>
              </a:pathLst>
            </a:custGeom>
            <a:solidFill>
              <a:srgbClr val="58A6C4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76" id="76"/>
          <p:cNvSpPr txBox="true"/>
          <p:nvPr/>
        </p:nvSpPr>
        <p:spPr>
          <a:xfrm rot="0">
            <a:off x="5610225" y="5924550"/>
            <a:ext cx="285750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75" b="true">
                <a:solidFill>
                  <a:srgbClr val="17365D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Delivery Agent</a:t>
            </a:r>
          </a:p>
        </p:txBody>
      </p:sp>
      <p:grpSp>
        <p:nvGrpSpPr>
          <p:cNvPr name="Group 77" id="77"/>
          <p:cNvGrpSpPr/>
          <p:nvPr/>
        </p:nvGrpSpPr>
        <p:grpSpPr>
          <a:xfrm rot="0">
            <a:off x="9429750" y="6038850"/>
            <a:ext cx="133350" cy="133350"/>
            <a:chOff x="0" y="0"/>
            <a:chExt cx="177800" cy="17780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77800" cy="177800"/>
            </a:xfrm>
            <a:custGeom>
              <a:avLst/>
              <a:gdLst/>
              <a:ahLst/>
              <a:cxnLst/>
              <a:rect r="r" b="b" t="t" l="l"/>
              <a:pathLst>
                <a:path h="177800" w="177800">
                  <a:moveTo>
                    <a:pt x="88900" y="0"/>
                  </a:moveTo>
                  <a:cubicBezTo>
                    <a:pt x="137998" y="0"/>
                    <a:pt x="177800" y="39802"/>
                    <a:pt x="177800" y="88900"/>
                  </a:cubicBezTo>
                  <a:cubicBezTo>
                    <a:pt x="177800" y="137998"/>
                    <a:pt x="137998" y="177800"/>
                    <a:pt x="88900" y="177800"/>
                  </a:cubicBezTo>
                  <a:cubicBezTo>
                    <a:pt x="39802" y="177800"/>
                    <a:pt x="0" y="137998"/>
                    <a:pt x="0" y="88900"/>
                  </a:cubicBezTo>
                  <a:cubicBezTo>
                    <a:pt x="0" y="39802"/>
                    <a:pt x="39802" y="0"/>
                    <a:pt x="88900" y="0"/>
                  </a:cubicBezTo>
                  <a:close/>
                </a:path>
              </a:pathLst>
            </a:custGeom>
            <a:solidFill>
              <a:srgbClr val="58A6C4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79" id="79"/>
          <p:cNvSpPr txBox="true"/>
          <p:nvPr/>
        </p:nvSpPr>
        <p:spPr>
          <a:xfrm rot="0">
            <a:off x="9753600" y="5924550"/>
            <a:ext cx="285750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75" b="true">
                <a:solidFill>
                  <a:srgbClr val="17365D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Delivery Attempt</a:t>
            </a:r>
          </a:p>
        </p:txBody>
      </p:sp>
      <p:grpSp>
        <p:nvGrpSpPr>
          <p:cNvPr name="Group 80" id="80"/>
          <p:cNvGrpSpPr/>
          <p:nvPr/>
        </p:nvGrpSpPr>
        <p:grpSpPr>
          <a:xfrm rot="0">
            <a:off x="13573125" y="6038850"/>
            <a:ext cx="133350" cy="133350"/>
            <a:chOff x="0" y="0"/>
            <a:chExt cx="177800" cy="17780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77800" cy="177800"/>
            </a:xfrm>
            <a:custGeom>
              <a:avLst/>
              <a:gdLst/>
              <a:ahLst/>
              <a:cxnLst/>
              <a:rect r="r" b="b" t="t" l="l"/>
              <a:pathLst>
                <a:path h="177800" w="177800">
                  <a:moveTo>
                    <a:pt x="88900" y="0"/>
                  </a:moveTo>
                  <a:cubicBezTo>
                    <a:pt x="137998" y="0"/>
                    <a:pt x="177800" y="39802"/>
                    <a:pt x="177800" y="88900"/>
                  </a:cubicBezTo>
                  <a:cubicBezTo>
                    <a:pt x="177800" y="137998"/>
                    <a:pt x="137998" y="177800"/>
                    <a:pt x="88900" y="177800"/>
                  </a:cubicBezTo>
                  <a:cubicBezTo>
                    <a:pt x="39802" y="177800"/>
                    <a:pt x="0" y="137998"/>
                    <a:pt x="0" y="88900"/>
                  </a:cubicBezTo>
                  <a:cubicBezTo>
                    <a:pt x="0" y="39802"/>
                    <a:pt x="39802" y="0"/>
                    <a:pt x="88900" y="0"/>
                  </a:cubicBezTo>
                  <a:close/>
                </a:path>
              </a:pathLst>
            </a:custGeom>
            <a:solidFill>
              <a:srgbClr val="58A6C4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82" id="82"/>
          <p:cNvSpPr txBox="true"/>
          <p:nvPr/>
        </p:nvSpPr>
        <p:spPr>
          <a:xfrm rot="0">
            <a:off x="13896975" y="5924550"/>
            <a:ext cx="285750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75" b="true">
                <a:solidFill>
                  <a:srgbClr val="17365D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Charge</a:t>
            </a:r>
          </a:p>
        </p:txBody>
      </p:sp>
      <p:grpSp>
        <p:nvGrpSpPr>
          <p:cNvPr name="Group 83" id="83"/>
          <p:cNvGrpSpPr/>
          <p:nvPr/>
        </p:nvGrpSpPr>
        <p:grpSpPr>
          <a:xfrm rot="0">
            <a:off x="1143000" y="7515225"/>
            <a:ext cx="133350" cy="133350"/>
            <a:chOff x="0" y="0"/>
            <a:chExt cx="177800" cy="17780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77800" cy="177800"/>
            </a:xfrm>
            <a:custGeom>
              <a:avLst/>
              <a:gdLst/>
              <a:ahLst/>
              <a:cxnLst/>
              <a:rect r="r" b="b" t="t" l="l"/>
              <a:pathLst>
                <a:path h="177800" w="177800">
                  <a:moveTo>
                    <a:pt x="88900" y="0"/>
                  </a:moveTo>
                  <a:cubicBezTo>
                    <a:pt x="137998" y="0"/>
                    <a:pt x="177800" y="39802"/>
                    <a:pt x="177800" y="88900"/>
                  </a:cubicBezTo>
                  <a:cubicBezTo>
                    <a:pt x="177800" y="137998"/>
                    <a:pt x="137998" y="177800"/>
                    <a:pt x="88900" y="177800"/>
                  </a:cubicBezTo>
                  <a:cubicBezTo>
                    <a:pt x="39802" y="177800"/>
                    <a:pt x="0" y="137998"/>
                    <a:pt x="0" y="88900"/>
                  </a:cubicBezTo>
                  <a:cubicBezTo>
                    <a:pt x="0" y="39802"/>
                    <a:pt x="39802" y="0"/>
                    <a:pt x="88900" y="0"/>
                  </a:cubicBezTo>
                  <a:close/>
                </a:path>
              </a:pathLst>
            </a:custGeom>
            <a:solidFill>
              <a:srgbClr val="58A6C4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85" id="85"/>
          <p:cNvSpPr txBox="true"/>
          <p:nvPr/>
        </p:nvSpPr>
        <p:spPr>
          <a:xfrm rot="0">
            <a:off x="1466850" y="7400925"/>
            <a:ext cx="285750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75" b="true">
                <a:solidFill>
                  <a:srgbClr val="17365D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Payment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16573500" y="9667875"/>
            <a:ext cx="809625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b="true" sz="1500" spc="120">
                <a:solidFill>
                  <a:srgbClr val="2F6FA3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33350"/>
            <a:chOff x="0" y="0"/>
            <a:chExt cx="24384000" cy="177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77800"/>
            </a:xfrm>
            <a:custGeom>
              <a:avLst/>
              <a:gdLst/>
              <a:ahLst/>
              <a:cxnLst/>
              <a:rect r="r" b="b" t="t" l="l"/>
              <a:pathLst>
                <a:path h="1778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77800"/>
                  </a:lnTo>
                  <a:lnTo>
                    <a:pt x="0" y="177800"/>
                  </a:lnTo>
                  <a:close/>
                </a:path>
              </a:pathLst>
            </a:custGeom>
            <a:solidFill>
              <a:srgbClr val="2F6FA3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215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876300" y="962025"/>
            <a:ext cx="13811250" cy="565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55"/>
              </a:lnSpc>
            </a:pPr>
            <a:r>
              <a:rPr lang="en-US" sz="4050" b="true">
                <a:solidFill>
                  <a:srgbClr val="17365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Entity–Relationship Diagram</a:t>
            </a:r>
          </a:p>
        </p:txBody>
      </p:sp>
      <p:sp>
        <p:nvSpPr>
          <p:cNvPr name="AutoShape 6" id="6"/>
          <p:cNvSpPr/>
          <p:nvPr/>
        </p:nvSpPr>
        <p:spPr>
          <a:xfrm flipV="true">
            <a:off x="5561503" y="-947827"/>
            <a:ext cx="7298685" cy="5400980"/>
          </a:xfrm>
          <a:prstGeom prst="line">
            <a:avLst/>
          </a:prstGeom>
          <a:ln cap="flat" w="9525">
            <a:solidFill>
              <a:srgbClr val="E8F1F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4612261" y="2079155"/>
            <a:ext cx="10075289" cy="6716860"/>
          </a:xfrm>
          <a:custGeom>
            <a:avLst/>
            <a:gdLst/>
            <a:ahLst/>
            <a:cxnLst/>
            <a:rect r="r" b="b" t="t" l="l"/>
            <a:pathLst>
              <a:path h="6716860" w="10075289">
                <a:moveTo>
                  <a:pt x="0" y="0"/>
                </a:moveTo>
                <a:lnTo>
                  <a:pt x="10075289" y="0"/>
                </a:lnTo>
                <a:lnTo>
                  <a:pt x="10075289" y="6716859"/>
                </a:lnTo>
                <a:lnTo>
                  <a:pt x="0" y="67168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876300" y="485775"/>
            <a:ext cx="4953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20" b="true">
                <a:solidFill>
                  <a:srgbClr val="2F6FA3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08  •  COURIER DBMS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333750" y="9020175"/>
            <a:ext cx="11620500" cy="256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62"/>
              </a:lnSpc>
            </a:pPr>
            <a:r>
              <a:rPr lang="en-US" sz="1650" i="true">
                <a:solidFill>
                  <a:srgbClr val="607083"/>
                </a:solidFill>
                <a:latin typeface="Source Sans 3 Italics"/>
                <a:ea typeface="Source Sans 3 Italics"/>
                <a:cs typeface="Source Sans 3 Italics"/>
                <a:sym typeface="Source Sans 3 Italics"/>
              </a:rPr>
              <a:t>Entity-Relationship Diagram of Courier Parcel Booking and Tracking System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573500" y="9667875"/>
            <a:ext cx="809625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b="true" sz="1500" spc="120">
                <a:solidFill>
                  <a:srgbClr val="2F6FA3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33350"/>
            <a:chOff x="0" y="0"/>
            <a:chExt cx="24384000" cy="177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77800"/>
            </a:xfrm>
            <a:custGeom>
              <a:avLst/>
              <a:gdLst/>
              <a:ahLst/>
              <a:cxnLst/>
              <a:rect r="r" b="b" t="t" l="l"/>
              <a:pathLst>
                <a:path h="1778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77800"/>
                  </a:lnTo>
                  <a:lnTo>
                    <a:pt x="0" y="177800"/>
                  </a:lnTo>
                  <a:close/>
                </a:path>
              </a:pathLst>
            </a:custGeom>
            <a:solidFill>
              <a:srgbClr val="2F6FA3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215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876300" y="485775"/>
            <a:ext cx="4953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20" b="true">
                <a:solidFill>
                  <a:srgbClr val="2F6FA3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09  •  COURIER DBMS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76300" y="962025"/>
            <a:ext cx="13811250" cy="565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55"/>
              </a:lnSpc>
            </a:pPr>
            <a:r>
              <a:rPr lang="en-US" sz="4050" b="true">
                <a:solidFill>
                  <a:srgbClr val="17365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Initial Relational Schema</a:t>
            </a:r>
          </a:p>
        </p:txBody>
      </p:sp>
      <p:sp>
        <p:nvSpPr>
          <p:cNvPr name="AutoShape 7" id="7"/>
          <p:cNvSpPr/>
          <p:nvPr/>
        </p:nvSpPr>
        <p:spPr>
          <a:xfrm>
            <a:off x="895350" y="2076450"/>
            <a:ext cx="16497300" cy="0"/>
          </a:xfrm>
          <a:prstGeom prst="line">
            <a:avLst/>
          </a:prstGeom>
          <a:ln cap="flat" w="19050">
            <a:solidFill>
              <a:srgbClr val="E8F1F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895350" y="2686050"/>
            <a:ext cx="3028950" cy="3762375"/>
            <a:chOff x="0" y="0"/>
            <a:chExt cx="4038600" cy="50165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038600" cy="5016500"/>
            </a:xfrm>
            <a:custGeom>
              <a:avLst/>
              <a:gdLst/>
              <a:ahLst/>
              <a:cxnLst/>
              <a:rect r="r" b="b" t="t" l="l"/>
              <a:pathLst>
                <a:path h="5016500" w="4038600">
                  <a:moveTo>
                    <a:pt x="0" y="0"/>
                  </a:moveTo>
                  <a:lnTo>
                    <a:pt x="4038600" y="0"/>
                  </a:lnTo>
                  <a:lnTo>
                    <a:pt x="4038600" y="5016500"/>
                  </a:lnTo>
                  <a:lnTo>
                    <a:pt x="0" y="5016500"/>
                  </a:lnTo>
                  <a:close/>
                </a:path>
              </a:pathLst>
            </a:custGeom>
            <a:solidFill>
              <a:srgbClr val="F7F9FC"/>
            </a:solidFill>
            <a:ln w="9525" cap="sq">
              <a:solidFill>
                <a:srgbClr val="2F6FA3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038600" cy="5054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95350" y="2686050"/>
            <a:ext cx="3028950" cy="685800"/>
            <a:chOff x="0" y="0"/>
            <a:chExt cx="4038600" cy="914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038600" cy="914400"/>
            </a:xfrm>
            <a:custGeom>
              <a:avLst/>
              <a:gdLst/>
              <a:ahLst/>
              <a:cxnLst/>
              <a:rect r="r" b="b" t="t" l="l"/>
              <a:pathLst>
                <a:path h="914400" w="4038600">
                  <a:moveTo>
                    <a:pt x="0" y="0"/>
                  </a:moveTo>
                  <a:lnTo>
                    <a:pt x="4038600" y="0"/>
                  </a:lnTo>
                  <a:lnTo>
                    <a:pt x="40386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2F6FA3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038600" cy="952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191000" y="2686050"/>
            <a:ext cx="3028950" cy="3762375"/>
            <a:chOff x="0" y="0"/>
            <a:chExt cx="4038600" cy="50165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038600" cy="5016500"/>
            </a:xfrm>
            <a:custGeom>
              <a:avLst/>
              <a:gdLst/>
              <a:ahLst/>
              <a:cxnLst/>
              <a:rect r="r" b="b" t="t" l="l"/>
              <a:pathLst>
                <a:path h="5016500" w="4038600">
                  <a:moveTo>
                    <a:pt x="0" y="0"/>
                  </a:moveTo>
                  <a:lnTo>
                    <a:pt x="4038600" y="0"/>
                  </a:lnTo>
                  <a:lnTo>
                    <a:pt x="4038600" y="5016500"/>
                  </a:lnTo>
                  <a:lnTo>
                    <a:pt x="0" y="5016500"/>
                  </a:lnTo>
                  <a:close/>
                </a:path>
              </a:pathLst>
            </a:custGeom>
            <a:solidFill>
              <a:srgbClr val="F7F9FC"/>
            </a:solidFill>
            <a:ln w="9525" cap="sq">
              <a:solidFill>
                <a:srgbClr val="2F6FA3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4038600" cy="5054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191000" y="2686050"/>
            <a:ext cx="3028950" cy="685800"/>
            <a:chOff x="0" y="0"/>
            <a:chExt cx="4038600" cy="9144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038600" cy="914400"/>
            </a:xfrm>
            <a:custGeom>
              <a:avLst/>
              <a:gdLst/>
              <a:ahLst/>
              <a:cxnLst/>
              <a:rect r="r" b="b" t="t" l="l"/>
              <a:pathLst>
                <a:path h="914400" w="4038600">
                  <a:moveTo>
                    <a:pt x="0" y="0"/>
                  </a:moveTo>
                  <a:lnTo>
                    <a:pt x="4038600" y="0"/>
                  </a:lnTo>
                  <a:lnTo>
                    <a:pt x="40386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2F6FA3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4038600" cy="952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486650" y="2686050"/>
            <a:ext cx="3028950" cy="3762375"/>
            <a:chOff x="0" y="0"/>
            <a:chExt cx="4038600" cy="50165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038600" cy="5016500"/>
            </a:xfrm>
            <a:custGeom>
              <a:avLst/>
              <a:gdLst/>
              <a:ahLst/>
              <a:cxnLst/>
              <a:rect r="r" b="b" t="t" l="l"/>
              <a:pathLst>
                <a:path h="5016500" w="4038600">
                  <a:moveTo>
                    <a:pt x="0" y="0"/>
                  </a:moveTo>
                  <a:lnTo>
                    <a:pt x="4038600" y="0"/>
                  </a:lnTo>
                  <a:lnTo>
                    <a:pt x="4038600" y="5016500"/>
                  </a:lnTo>
                  <a:lnTo>
                    <a:pt x="0" y="5016500"/>
                  </a:lnTo>
                  <a:close/>
                </a:path>
              </a:pathLst>
            </a:custGeom>
            <a:solidFill>
              <a:srgbClr val="F7F9FC"/>
            </a:solidFill>
            <a:ln w="9525" cap="sq">
              <a:solidFill>
                <a:srgbClr val="2F6FA3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4038600" cy="5054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7486650" y="2686050"/>
            <a:ext cx="3028950" cy="685800"/>
            <a:chOff x="0" y="0"/>
            <a:chExt cx="4038600" cy="9144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038600" cy="914400"/>
            </a:xfrm>
            <a:custGeom>
              <a:avLst/>
              <a:gdLst/>
              <a:ahLst/>
              <a:cxnLst/>
              <a:rect r="r" b="b" t="t" l="l"/>
              <a:pathLst>
                <a:path h="914400" w="4038600">
                  <a:moveTo>
                    <a:pt x="0" y="0"/>
                  </a:moveTo>
                  <a:lnTo>
                    <a:pt x="4038600" y="0"/>
                  </a:lnTo>
                  <a:lnTo>
                    <a:pt x="40386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2F6FA3"/>
            </a:solidFill>
            <a:ln cap="sq">
              <a:noFill/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4038600" cy="952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782300" y="2686050"/>
            <a:ext cx="3028950" cy="3762375"/>
            <a:chOff x="0" y="0"/>
            <a:chExt cx="4038600" cy="50165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038600" cy="5016500"/>
            </a:xfrm>
            <a:custGeom>
              <a:avLst/>
              <a:gdLst/>
              <a:ahLst/>
              <a:cxnLst/>
              <a:rect r="r" b="b" t="t" l="l"/>
              <a:pathLst>
                <a:path h="5016500" w="4038600">
                  <a:moveTo>
                    <a:pt x="0" y="0"/>
                  </a:moveTo>
                  <a:lnTo>
                    <a:pt x="4038600" y="0"/>
                  </a:lnTo>
                  <a:lnTo>
                    <a:pt x="4038600" y="5016500"/>
                  </a:lnTo>
                  <a:lnTo>
                    <a:pt x="0" y="5016500"/>
                  </a:lnTo>
                  <a:close/>
                </a:path>
              </a:pathLst>
            </a:custGeom>
            <a:solidFill>
              <a:srgbClr val="F7F9FC"/>
            </a:solidFill>
            <a:ln w="9525" cap="sq">
              <a:solidFill>
                <a:srgbClr val="2F6FA3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4038600" cy="5054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0782300" y="2686050"/>
            <a:ext cx="3028950" cy="685800"/>
            <a:chOff x="0" y="0"/>
            <a:chExt cx="4038600" cy="9144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038600" cy="914400"/>
            </a:xfrm>
            <a:custGeom>
              <a:avLst/>
              <a:gdLst/>
              <a:ahLst/>
              <a:cxnLst/>
              <a:rect r="r" b="b" t="t" l="l"/>
              <a:pathLst>
                <a:path h="914400" w="4038600">
                  <a:moveTo>
                    <a:pt x="0" y="0"/>
                  </a:moveTo>
                  <a:lnTo>
                    <a:pt x="4038600" y="0"/>
                  </a:lnTo>
                  <a:lnTo>
                    <a:pt x="40386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2F6FA3"/>
            </a:solidFill>
            <a:ln cap="sq">
              <a:noFill/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4038600" cy="952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4077950" y="2686050"/>
            <a:ext cx="3028950" cy="3762375"/>
            <a:chOff x="0" y="0"/>
            <a:chExt cx="4038600" cy="50165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038600" cy="5016500"/>
            </a:xfrm>
            <a:custGeom>
              <a:avLst/>
              <a:gdLst/>
              <a:ahLst/>
              <a:cxnLst/>
              <a:rect r="r" b="b" t="t" l="l"/>
              <a:pathLst>
                <a:path h="5016500" w="4038600">
                  <a:moveTo>
                    <a:pt x="0" y="0"/>
                  </a:moveTo>
                  <a:lnTo>
                    <a:pt x="4038600" y="0"/>
                  </a:lnTo>
                  <a:lnTo>
                    <a:pt x="4038600" y="5016500"/>
                  </a:lnTo>
                  <a:lnTo>
                    <a:pt x="0" y="5016500"/>
                  </a:lnTo>
                  <a:close/>
                </a:path>
              </a:pathLst>
            </a:custGeom>
            <a:solidFill>
              <a:srgbClr val="F7F9FC"/>
            </a:solidFill>
            <a:ln w="9525" cap="sq">
              <a:solidFill>
                <a:srgbClr val="2F6FA3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4038600" cy="5054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4077950" y="2686050"/>
            <a:ext cx="3028950" cy="685800"/>
            <a:chOff x="0" y="0"/>
            <a:chExt cx="4038600" cy="9144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038600" cy="914400"/>
            </a:xfrm>
            <a:custGeom>
              <a:avLst/>
              <a:gdLst/>
              <a:ahLst/>
              <a:cxnLst/>
              <a:rect r="r" b="b" t="t" l="l"/>
              <a:pathLst>
                <a:path h="914400" w="4038600">
                  <a:moveTo>
                    <a:pt x="0" y="0"/>
                  </a:moveTo>
                  <a:lnTo>
                    <a:pt x="4038600" y="0"/>
                  </a:lnTo>
                  <a:lnTo>
                    <a:pt x="40386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2F6FA3"/>
            </a:solidFill>
            <a:ln cap="sq">
              <a:noFill/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4038600" cy="952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1085850" y="2867025"/>
            <a:ext cx="2647950" cy="264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4"/>
              </a:lnSpc>
            </a:pPr>
            <a:r>
              <a:rPr lang="en-US" sz="1575" b="true">
                <a:solidFill>
                  <a:srgbClr val="FFFFF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CUSTOMER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123950" y="3695700"/>
            <a:ext cx="2571750" cy="1098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8"/>
              </a:lnSpc>
            </a:pPr>
            <a:r>
              <a:rPr lang="en-US" sz="1650">
                <a:solidFill>
                  <a:srgbClr val="182433"/>
                </a:solidFill>
                <a:latin typeface="Source Sans 3"/>
                <a:ea typeface="Source Sans 3"/>
                <a:cs typeface="Source Sans 3"/>
                <a:sym typeface="Source Sans 3"/>
              </a:rPr>
              <a:t>Customer_ID  PK</a:t>
            </a:r>
          </a:p>
          <a:p>
            <a:pPr algn="l">
              <a:lnSpc>
                <a:spcPts val="2178"/>
              </a:lnSpc>
            </a:pPr>
            <a:r>
              <a:rPr lang="en-US" sz="1650">
                <a:solidFill>
                  <a:srgbClr val="182433"/>
                </a:solidFill>
                <a:latin typeface="Source Sans 3"/>
                <a:ea typeface="Source Sans 3"/>
                <a:cs typeface="Source Sans 3"/>
                <a:sym typeface="Source Sans 3"/>
              </a:rPr>
              <a:t>Name • Phone • Email</a:t>
            </a:r>
          </a:p>
          <a:p>
            <a:pPr algn="l">
              <a:lnSpc>
                <a:spcPts val="2178"/>
              </a:lnSpc>
            </a:pPr>
            <a:r>
              <a:rPr lang="en-US" sz="1650">
                <a:solidFill>
                  <a:srgbClr val="182433"/>
                </a:solidFill>
                <a:latin typeface="Source Sans 3"/>
                <a:ea typeface="Source Sans 3"/>
                <a:cs typeface="Source Sans 3"/>
                <a:sym typeface="Source Sans 3"/>
              </a:rPr>
              <a:t>Address • City • State • Pincode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4381500" y="2867025"/>
            <a:ext cx="2647950" cy="264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4"/>
              </a:lnSpc>
            </a:pPr>
            <a:r>
              <a:rPr lang="en-US" sz="1575" b="true">
                <a:solidFill>
                  <a:srgbClr val="FFFFF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BRANCH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4419600" y="3695700"/>
            <a:ext cx="2571750" cy="822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8"/>
              </a:lnSpc>
            </a:pPr>
            <a:r>
              <a:rPr lang="en-US" sz="1650">
                <a:solidFill>
                  <a:srgbClr val="182433"/>
                </a:solidFill>
                <a:latin typeface="Source Sans 3"/>
                <a:ea typeface="Source Sans 3"/>
                <a:cs typeface="Source Sans 3"/>
                <a:sym typeface="Source Sans 3"/>
              </a:rPr>
              <a:t>Branch_ID  PK</a:t>
            </a:r>
          </a:p>
          <a:p>
            <a:pPr algn="l">
              <a:lnSpc>
                <a:spcPts val="2178"/>
              </a:lnSpc>
            </a:pPr>
            <a:r>
              <a:rPr lang="en-US" sz="1650">
                <a:solidFill>
                  <a:srgbClr val="182433"/>
                </a:solidFill>
                <a:latin typeface="Source Sans 3"/>
                <a:ea typeface="Source Sans 3"/>
                <a:cs typeface="Source Sans 3"/>
                <a:sym typeface="Source Sans 3"/>
              </a:rPr>
              <a:t>Name • Address • City • State</a:t>
            </a:r>
          </a:p>
          <a:p>
            <a:pPr algn="l">
              <a:lnSpc>
                <a:spcPts val="2178"/>
              </a:lnSpc>
            </a:pPr>
            <a:r>
              <a:rPr lang="en-US" sz="1650">
                <a:solidFill>
                  <a:srgbClr val="182433"/>
                </a:solidFill>
                <a:latin typeface="Source Sans 3"/>
                <a:ea typeface="Source Sans 3"/>
                <a:cs typeface="Source Sans 3"/>
                <a:sym typeface="Source Sans 3"/>
              </a:rPr>
              <a:t>Pincode • Phone • Hub_ID  FK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7677150" y="2867025"/>
            <a:ext cx="2647950" cy="264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4"/>
              </a:lnSpc>
            </a:pPr>
            <a:r>
              <a:rPr lang="en-US" sz="1575" b="true">
                <a:solidFill>
                  <a:srgbClr val="FFFFF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HUB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7715250" y="3695700"/>
            <a:ext cx="2571750" cy="822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8"/>
              </a:lnSpc>
            </a:pPr>
            <a:r>
              <a:rPr lang="en-US" sz="1650">
                <a:solidFill>
                  <a:srgbClr val="182433"/>
                </a:solidFill>
                <a:latin typeface="Source Sans 3"/>
                <a:ea typeface="Source Sans 3"/>
                <a:cs typeface="Source Sans 3"/>
                <a:sym typeface="Source Sans 3"/>
              </a:rPr>
              <a:t>Hub_ID  PK</a:t>
            </a:r>
          </a:p>
          <a:p>
            <a:pPr algn="l">
              <a:lnSpc>
                <a:spcPts val="2178"/>
              </a:lnSpc>
            </a:pPr>
            <a:r>
              <a:rPr lang="en-US" sz="1650">
                <a:solidFill>
                  <a:srgbClr val="182433"/>
                </a:solidFill>
                <a:latin typeface="Source Sans 3"/>
                <a:ea typeface="Source Sans 3"/>
                <a:cs typeface="Source Sans 3"/>
                <a:sym typeface="Source Sans 3"/>
              </a:rPr>
              <a:t>Name • Location</a:t>
            </a:r>
          </a:p>
          <a:p>
            <a:pPr algn="l">
              <a:lnSpc>
                <a:spcPts val="2178"/>
              </a:lnSpc>
            </a:pPr>
            <a:r>
              <a:rPr lang="en-US" sz="1650">
                <a:solidFill>
                  <a:srgbClr val="182433"/>
                </a:solidFill>
                <a:latin typeface="Source Sans 3"/>
                <a:ea typeface="Source Sans 3"/>
                <a:cs typeface="Source Sans 3"/>
                <a:sym typeface="Source Sans 3"/>
              </a:rPr>
              <a:t>City • State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0972800" y="2867025"/>
            <a:ext cx="2647950" cy="264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4"/>
              </a:lnSpc>
            </a:pPr>
            <a:r>
              <a:rPr lang="en-US" sz="1575" b="true">
                <a:solidFill>
                  <a:srgbClr val="FFFFF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SERVICE_TYPE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1010900" y="3695700"/>
            <a:ext cx="2571750" cy="1098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8"/>
              </a:lnSpc>
            </a:pPr>
            <a:r>
              <a:rPr lang="en-US" sz="1650">
                <a:solidFill>
                  <a:srgbClr val="182433"/>
                </a:solidFill>
                <a:latin typeface="Source Sans 3"/>
                <a:ea typeface="Source Sans 3"/>
                <a:cs typeface="Source Sans 3"/>
                <a:sym typeface="Source Sans 3"/>
              </a:rPr>
              <a:t>Service_ID  PK</a:t>
            </a:r>
          </a:p>
          <a:p>
            <a:pPr algn="l">
              <a:lnSpc>
                <a:spcPts val="2178"/>
              </a:lnSpc>
            </a:pPr>
            <a:r>
              <a:rPr lang="en-US" sz="1650">
                <a:solidFill>
                  <a:srgbClr val="182433"/>
                </a:solidFill>
                <a:latin typeface="Source Sans 3"/>
                <a:ea typeface="Source Sans 3"/>
                <a:cs typeface="Source Sans 3"/>
                <a:sym typeface="Source Sans 3"/>
              </a:rPr>
              <a:t>Name • Description</a:t>
            </a:r>
          </a:p>
          <a:p>
            <a:pPr algn="l">
              <a:lnSpc>
                <a:spcPts val="2178"/>
              </a:lnSpc>
            </a:pPr>
            <a:r>
              <a:rPr lang="en-US" sz="1650">
                <a:solidFill>
                  <a:srgbClr val="182433"/>
                </a:solidFill>
                <a:latin typeface="Source Sans 3"/>
                <a:ea typeface="Source Sans 3"/>
                <a:cs typeface="Source Sans 3"/>
                <a:sym typeface="Source Sans 3"/>
              </a:rPr>
              <a:t>Base_Charge • Charge_Per_Kg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4268450" y="2867025"/>
            <a:ext cx="2647950" cy="264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4"/>
              </a:lnSpc>
            </a:pPr>
            <a:r>
              <a:rPr lang="en-US" sz="1575" b="true">
                <a:solidFill>
                  <a:srgbClr val="FFFFF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PARCEL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4306550" y="3695700"/>
            <a:ext cx="2571750" cy="1098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8"/>
              </a:lnSpc>
            </a:pPr>
            <a:r>
              <a:rPr lang="en-US" sz="1650">
                <a:solidFill>
                  <a:srgbClr val="182433"/>
                </a:solidFill>
                <a:latin typeface="Source Sans 3"/>
                <a:ea typeface="Source Sans 3"/>
                <a:cs typeface="Source Sans 3"/>
                <a:sym typeface="Source Sans 3"/>
              </a:rPr>
              <a:t>Parcel_ID  PK</a:t>
            </a:r>
          </a:p>
          <a:p>
            <a:pPr algn="l">
              <a:lnSpc>
                <a:spcPts val="2178"/>
              </a:lnSpc>
            </a:pPr>
            <a:r>
              <a:rPr lang="en-US" sz="1650">
                <a:solidFill>
                  <a:srgbClr val="182433"/>
                </a:solidFill>
                <a:latin typeface="Source Sans 3"/>
                <a:ea typeface="Source Sans 3"/>
                <a:cs typeface="Source Sans 3"/>
                <a:sym typeface="Source Sans 3"/>
              </a:rPr>
              <a:t>Tracking_No  UNIQUE</a:t>
            </a:r>
          </a:p>
          <a:p>
            <a:pPr algn="l">
              <a:lnSpc>
                <a:spcPts val="2178"/>
              </a:lnSpc>
            </a:pPr>
            <a:r>
              <a:rPr lang="en-US" sz="1650">
                <a:solidFill>
                  <a:srgbClr val="182433"/>
                </a:solidFill>
                <a:latin typeface="Source Sans 3"/>
                <a:ea typeface="Source Sans 3"/>
                <a:cs typeface="Source Sans 3"/>
                <a:sym typeface="Source Sans 3"/>
              </a:rPr>
              <a:t>Weight • Dimensions • Contents • Status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895350" y="6972300"/>
            <a:ext cx="2857500" cy="240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5"/>
              </a:lnSpc>
            </a:pPr>
            <a:r>
              <a:rPr lang="en-US" sz="1425" spc="114" b="true">
                <a:solidFill>
                  <a:srgbClr val="2F6FA3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OTHER TABLES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895350" y="7458075"/>
            <a:ext cx="14287500" cy="321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3"/>
              </a:lnSpc>
            </a:pPr>
            <a:r>
              <a:rPr lang="en-US" sz="2025">
                <a:solidFill>
                  <a:srgbClr val="182433"/>
                </a:solidFill>
                <a:latin typeface="Source Sans 3"/>
                <a:ea typeface="Source Sans 3"/>
                <a:cs typeface="Source Sans 3"/>
                <a:sym typeface="Source Sans 3"/>
              </a:rPr>
              <a:t>Booking  •  Route  •  Scan_Event  •  Vehicle  •  Delivery_Agent  •  Delivery_Attempt  •  Charge  •  Payment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895350" y="8420100"/>
            <a:ext cx="6667500" cy="256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 b="true">
                <a:solidFill>
                  <a:srgbClr val="607083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PK = Primary Key     FK = Foreign Key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6573500" y="9667875"/>
            <a:ext cx="809625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b="true" sz="1500" spc="120">
                <a:solidFill>
                  <a:srgbClr val="2F6FA3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33350"/>
            <a:chOff x="0" y="0"/>
            <a:chExt cx="24384000" cy="177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77800"/>
            </a:xfrm>
            <a:custGeom>
              <a:avLst/>
              <a:gdLst/>
              <a:ahLst/>
              <a:cxnLst/>
              <a:rect r="r" b="b" t="t" l="l"/>
              <a:pathLst>
                <a:path h="1778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77800"/>
                  </a:lnTo>
                  <a:lnTo>
                    <a:pt x="0" y="177800"/>
                  </a:lnTo>
                  <a:close/>
                </a:path>
              </a:pathLst>
            </a:custGeom>
            <a:solidFill>
              <a:srgbClr val="2F6FA3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215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876300" y="485775"/>
            <a:ext cx="4953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20" b="true">
                <a:solidFill>
                  <a:srgbClr val="2F6FA3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10  •  COURIER DBMS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76300" y="962025"/>
            <a:ext cx="13811250" cy="565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55"/>
              </a:lnSpc>
            </a:pPr>
            <a:r>
              <a:rPr lang="en-US" sz="4050" b="true">
                <a:solidFill>
                  <a:srgbClr val="17365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Business Rules &amp; Future Work</a:t>
            </a:r>
          </a:p>
        </p:txBody>
      </p:sp>
      <p:sp>
        <p:nvSpPr>
          <p:cNvPr name="AutoShape 7" id="7"/>
          <p:cNvSpPr/>
          <p:nvPr/>
        </p:nvSpPr>
        <p:spPr>
          <a:xfrm>
            <a:off x="895350" y="2076450"/>
            <a:ext cx="16497300" cy="0"/>
          </a:xfrm>
          <a:prstGeom prst="line">
            <a:avLst/>
          </a:prstGeom>
          <a:ln cap="flat" w="19050">
            <a:solidFill>
              <a:srgbClr val="E8F1F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895350" y="2609850"/>
            <a:ext cx="7620000" cy="6191250"/>
            <a:chOff x="0" y="0"/>
            <a:chExt cx="10160000" cy="8255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160000" cy="8255000"/>
            </a:xfrm>
            <a:custGeom>
              <a:avLst/>
              <a:gdLst/>
              <a:ahLst/>
              <a:cxnLst/>
              <a:rect r="r" b="b" t="t" l="l"/>
              <a:pathLst>
                <a:path h="8255000" w="10160000">
                  <a:moveTo>
                    <a:pt x="0" y="0"/>
                  </a:moveTo>
                  <a:lnTo>
                    <a:pt x="10160000" y="0"/>
                  </a:lnTo>
                  <a:lnTo>
                    <a:pt x="10160000" y="8255000"/>
                  </a:lnTo>
                  <a:lnTo>
                    <a:pt x="0" y="82550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2F6FA3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0160000" cy="829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144000" y="2609850"/>
            <a:ext cx="8248650" cy="6191250"/>
            <a:chOff x="0" y="0"/>
            <a:chExt cx="10998200" cy="8255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998200" cy="8255000"/>
            </a:xfrm>
            <a:custGeom>
              <a:avLst/>
              <a:gdLst/>
              <a:ahLst/>
              <a:cxnLst/>
              <a:rect r="r" b="b" t="t" l="l"/>
              <a:pathLst>
                <a:path h="8255000" w="10998200">
                  <a:moveTo>
                    <a:pt x="0" y="0"/>
                  </a:moveTo>
                  <a:lnTo>
                    <a:pt x="10998200" y="0"/>
                  </a:lnTo>
                  <a:lnTo>
                    <a:pt x="10998200" y="8255000"/>
                  </a:lnTo>
                  <a:lnTo>
                    <a:pt x="0" y="8255000"/>
                  </a:lnTo>
                  <a:close/>
                </a:path>
              </a:pathLst>
            </a:custGeom>
            <a:solidFill>
              <a:srgbClr val="E8F1F7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0998200" cy="829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333500" y="3009900"/>
            <a:ext cx="619125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32" b="true">
                <a:solidFill>
                  <a:srgbClr val="2F6FA3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BUSINESS RULES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620250" y="3009900"/>
            <a:ext cx="619125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32" b="true">
                <a:solidFill>
                  <a:srgbClr val="2F6FA3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FUTURE WORK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381125" y="3762375"/>
            <a:ext cx="133350" cy="133350"/>
            <a:chOff x="0" y="0"/>
            <a:chExt cx="177800" cy="177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77800" cy="177800"/>
            </a:xfrm>
            <a:custGeom>
              <a:avLst/>
              <a:gdLst/>
              <a:ahLst/>
              <a:cxnLst/>
              <a:rect r="r" b="b" t="t" l="l"/>
              <a:pathLst>
                <a:path h="177800" w="177800">
                  <a:moveTo>
                    <a:pt x="88900" y="0"/>
                  </a:moveTo>
                  <a:cubicBezTo>
                    <a:pt x="137998" y="0"/>
                    <a:pt x="177800" y="39802"/>
                    <a:pt x="177800" y="88900"/>
                  </a:cubicBezTo>
                  <a:cubicBezTo>
                    <a:pt x="177800" y="137998"/>
                    <a:pt x="137998" y="177800"/>
                    <a:pt x="88900" y="177800"/>
                  </a:cubicBezTo>
                  <a:cubicBezTo>
                    <a:pt x="39802" y="177800"/>
                    <a:pt x="0" y="137998"/>
                    <a:pt x="0" y="88900"/>
                  </a:cubicBezTo>
                  <a:cubicBezTo>
                    <a:pt x="0" y="39802"/>
                    <a:pt x="39802" y="0"/>
                    <a:pt x="88900" y="0"/>
                  </a:cubicBezTo>
                  <a:close/>
                </a:path>
              </a:pathLst>
            </a:custGeom>
            <a:solidFill>
              <a:srgbClr val="3F8065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1762125" y="3629025"/>
            <a:ext cx="6096000" cy="299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5"/>
              </a:lnSpc>
            </a:pPr>
            <a:r>
              <a:rPr lang="en-US" sz="1725">
                <a:solidFill>
                  <a:srgbClr val="182433"/>
                </a:solidFill>
                <a:latin typeface="Source Sans 3"/>
                <a:ea typeface="Source Sans 3"/>
                <a:cs typeface="Source Sans 3"/>
                <a:sym typeface="Source Sans 3"/>
              </a:rPr>
              <a:t>Unique tracking number per parcel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381125" y="4410075"/>
            <a:ext cx="133350" cy="133350"/>
            <a:chOff x="0" y="0"/>
            <a:chExt cx="177800" cy="177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77800" cy="177800"/>
            </a:xfrm>
            <a:custGeom>
              <a:avLst/>
              <a:gdLst/>
              <a:ahLst/>
              <a:cxnLst/>
              <a:rect r="r" b="b" t="t" l="l"/>
              <a:pathLst>
                <a:path h="177800" w="177800">
                  <a:moveTo>
                    <a:pt x="88900" y="0"/>
                  </a:moveTo>
                  <a:cubicBezTo>
                    <a:pt x="137998" y="0"/>
                    <a:pt x="177800" y="39802"/>
                    <a:pt x="177800" y="88900"/>
                  </a:cubicBezTo>
                  <a:cubicBezTo>
                    <a:pt x="177800" y="137998"/>
                    <a:pt x="137998" y="177800"/>
                    <a:pt x="88900" y="177800"/>
                  </a:cubicBezTo>
                  <a:cubicBezTo>
                    <a:pt x="39802" y="177800"/>
                    <a:pt x="0" y="137998"/>
                    <a:pt x="0" y="88900"/>
                  </a:cubicBezTo>
                  <a:cubicBezTo>
                    <a:pt x="0" y="39802"/>
                    <a:pt x="39802" y="0"/>
                    <a:pt x="88900" y="0"/>
                  </a:cubicBezTo>
                  <a:close/>
                </a:path>
              </a:pathLst>
            </a:custGeom>
            <a:solidFill>
              <a:srgbClr val="3F8065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1762125" y="4276725"/>
            <a:ext cx="6096000" cy="299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5"/>
              </a:lnSpc>
            </a:pPr>
            <a:r>
              <a:rPr lang="en-US" sz="1725">
                <a:solidFill>
                  <a:srgbClr val="182433"/>
                </a:solidFill>
                <a:latin typeface="Source Sans 3"/>
                <a:ea typeface="Source Sans 3"/>
                <a:cs typeface="Source Sans 3"/>
                <a:sym typeface="Source Sans 3"/>
              </a:rPr>
              <a:t>Parcel weight must be greater than zero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381125" y="5057775"/>
            <a:ext cx="133350" cy="133350"/>
            <a:chOff x="0" y="0"/>
            <a:chExt cx="177800" cy="177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77800" cy="177800"/>
            </a:xfrm>
            <a:custGeom>
              <a:avLst/>
              <a:gdLst/>
              <a:ahLst/>
              <a:cxnLst/>
              <a:rect r="r" b="b" t="t" l="l"/>
              <a:pathLst>
                <a:path h="177800" w="177800">
                  <a:moveTo>
                    <a:pt x="88900" y="0"/>
                  </a:moveTo>
                  <a:cubicBezTo>
                    <a:pt x="137998" y="0"/>
                    <a:pt x="177800" y="39802"/>
                    <a:pt x="177800" y="88900"/>
                  </a:cubicBezTo>
                  <a:cubicBezTo>
                    <a:pt x="177800" y="137998"/>
                    <a:pt x="137998" y="177800"/>
                    <a:pt x="88900" y="177800"/>
                  </a:cubicBezTo>
                  <a:cubicBezTo>
                    <a:pt x="39802" y="177800"/>
                    <a:pt x="0" y="137998"/>
                    <a:pt x="0" y="88900"/>
                  </a:cubicBezTo>
                  <a:cubicBezTo>
                    <a:pt x="0" y="39802"/>
                    <a:pt x="39802" y="0"/>
                    <a:pt x="88900" y="0"/>
                  </a:cubicBezTo>
                  <a:close/>
                </a:path>
              </a:pathLst>
            </a:custGeom>
            <a:solidFill>
              <a:srgbClr val="3F8065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24" id="24"/>
          <p:cNvSpPr txBox="true"/>
          <p:nvPr/>
        </p:nvSpPr>
        <p:spPr>
          <a:xfrm rot="0">
            <a:off x="1762125" y="4924425"/>
            <a:ext cx="6096000" cy="299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5"/>
              </a:lnSpc>
            </a:pPr>
            <a:r>
              <a:rPr lang="en-US" sz="1725">
                <a:solidFill>
                  <a:srgbClr val="182433"/>
                </a:solidFill>
                <a:latin typeface="Source Sans 3"/>
                <a:ea typeface="Source Sans 3"/>
                <a:cs typeface="Source Sans 3"/>
                <a:sym typeface="Source Sans 3"/>
              </a:rPr>
              <a:t>Charges positive; payments cannot exceed charges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381125" y="5705475"/>
            <a:ext cx="133350" cy="133350"/>
            <a:chOff x="0" y="0"/>
            <a:chExt cx="177800" cy="177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77800" cy="177800"/>
            </a:xfrm>
            <a:custGeom>
              <a:avLst/>
              <a:gdLst/>
              <a:ahLst/>
              <a:cxnLst/>
              <a:rect r="r" b="b" t="t" l="l"/>
              <a:pathLst>
                <a:path h="177800" w="177800">
                  <a:moveTo>
                    <a:pt x="88900" y="0"/>
                  </a:moveTo>
                  <a:cubicBezTo>
                    <a:pt x="137998" y="0"/>
                    <a:pt x="177800" y="39802"/>
                    <a:pt x="177800" y="88900"/>
                  </a:cubicBezTo>
                  <a:cubicBezTo>
                    <a:pt x="177800" y="137998"/>
                    <a:pt x="137998" y="177800"/>
                    <a:pt x="88900" y="177800"/>
                  </a:cubicBezTo>
                  <a:cubicBezTo>
                    <a:pt x="39802" y="177800"/>
                    <a:pt x="0" y="137998"/>
                    <a:pt x="0" y="88900"/>
                  </a:cubicBezTo>
                  <a:cubicBezTo>
                    <a:pt x="0" y="39802"/>
                    <a:pt x="39802" y="0"/>
                    <a:pt x="88900" y="0"/>
                  </a:cubicBezTo>
                  <a:close/>
                </a:path>
              </a:pathLst>
            </a:custGeom>
            <a:solidFill>
              <a:srgbClr val="3F8065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27" id="27"/>
          <p:cNvSpPr txBox="true"/>
          <p:nvPr/>
        </p:nvSpPr>
        <p:spPr>
          <a:xfrm rot="0">
            <a:off x="1762125" y="5572125"/>
            <a:ext cx="6096000" cy="299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5"/>
              </a:lnSpc>
            </a:pPr>
            <a:r>
              <a:rPr lang="en-US" sz="1725">
                <a:solidFill>
                  <a:srgbClr val="182433"/>
                </a:solidFill>
                <a:latin typeface="Source Sans 3"/>
                <a:ea typeface="Source Sans 3"/>
                <a:cs typeface="Source Sans 3"/>
                <a:sym typeface="Source Sans 3"/>
              </a:rPr>
              <a:t>Delivered parcels accept no further scans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381125" y="6353175"/>
            <a:ext cx="133350" cy="133350"/>
            <a:chOff x="0" y="0"/>
            <a:chExt cx="177800" cy="177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77800" cy="177800"/>
            </a:xfrm>
            <a:custGeom>
              <a:avLst/>
              <a:gdLst/>
              <a:ahLst/>
              <a:cxnLst/>
              <a:rect r="r" b="b" t="t" l="l"/>
              <a:pathLst>
                <a:path h="177800" w="177800">
                  <a:moveTo>
                    <a:pt x="88900" y="0"/>
                  </a:moveTo>
                  <a:cubicBezTo>
                    <a:pt x="137998" y="0"/>
                    <a:pt x="177800" y="39802"/>
                    <a:pt x="177800" y="88900"/>
                  </a:cubicBezTo>
                  <a:cubicBezTo>
                    <a:pt x="177800" y="137998"/>
                    <a:pt x="137998" y="177800"/>
                    <a:pt x="88900" y="177800"/>
                  </a:cubicBezTo>
                  <a:cubicBezTo>
                    <a:pt x="39802" y="177800"/>
                    <a:pt x="0" y="137998"/>
                    <a:pt x="0" y="88900"/>
                  </a:cubicBezTo>
                  <a:cubicBezTo>
                    <a:pt x="0" y="39802"/>
                    <a:pt x="39802" y="0"/>
                    <a:pt x="88900" y="0"/>
                  </a:cubicBezTo>
                  <a:close/>
                </a:path>
              </a:pathLst>
            </a:custGeom>
            <a:solidFill>
              <a:srgbClr val="3F8065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30" id="30"/>
          <p:cNvSpPr txBox="true"/>
          <p:nvPr/>
        </p:nvSpPr>
        <p:spPr>
          <a:xfrm rot="0">
            <a:off x="1762125" y="6219825"/>
            <a:ext cx="6096000" cy="299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5"/>
              </a:lnSpc>
            </a:pPr>
            <a:r>
              <a:rPr lang="en-US" sz="1725">
                <a:solidFill>
                  <a:srgbClr val="182433"/>
                </a:solidFill>
                <a:latin typeface="Source Sans 3"/>
                <a:ea typeface="Source Sans 3"/>
                <a:cs typeface="Source Sans 3"/>
                <a:sym typeface="Source Sans 3"/>
              </a:rPr>
              <a:t>Scan events follow a valid status sequence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381125" y="7000875"/>
            <a:ext cx="133350" cy="133350"/>
            <a:chOff x="0" y="0"/>
            <a:chExt cx="177800" cy="177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77800" cy="177800"/>
            </a:xfrm>
            <a:custGeom>
              <a:avLst/>
              <a:gdLst/>
              <a:ahLst/>
              <a:cxnLst/>
              <a:rect r="r" b="b" t="t" l="l"/>
              <a:pathLst>
                <a:path h="177800" w="177800">
                  <a:moveTo>
                    <a:pt x="88900" y="0"/>
                  </a:moveTo>
                  <a:cubicBezTo>
                    <a:pt x="137998" y="0"/>
                    <a:pt x="177800" y="39802"/>
                    <a:pt x="177800" y="88900"/>
                  </a:cubicBezTo>
                  <a:cubicBezTo>
                    <a:pt x="177800" y="137998"/>
                    <a:pt x="137998" y="177800"/>
                    <a:pt x="88900" y="177800"/>
                  </a:cubicBezTo>
                  <a:cubicBezTo>
                    <a:pt x="39802" y="177800"/>
                    <a:pt x="0" y="137998"/>
                    <a:pt x="0" y="88900"/>
                  </a:cubicBezTo>
                  <a:cubicBezTo>
                    <a:pt x="0" y="39802"/>
                    <a:pt x="39802" y="0"/>
                    <a:pt x="88900" y="0"/>
                  </a:cubicBezTo>
                  <a:close/>
                </a:path>
              </a:pathLst>
            </a:custGeom>
            <a:solidFill>
              <a:srgbClr val="3F8065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33" id="33"/>
          <p:cNvSpPr txBox="true"/>
          <p:nvPr/>
        </p:nvSpPr>
        <p:spPr>
          <a:xfrm rot="0">
            <a:off x="1762125" y="6867525"/>
            <a:ext cx="6096000" cy="299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5"/>
              </a:lnSpc>
            </a:pPr>
            <a:r>
              <a:rPr lang="en-US" sz="1725">
                <a:solidFill>
                  <a:srgbClr val="182433"/>
                </a:solidFill>
                <a:latin typeface="Source Sans 3"/>
                <a:ea typeface="Source Sans 3"/>
                <a:cs typeface="Source Sans 3"/>
                <a:sym typeface="Source Sans 3"/>
              </a:rPr>
              <a:t>Attempts reference a valid parcel and agent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381125" y="7648575"/>
            <a:ext cx="133350" cy="133350"/>
            <a:chOff x="0" y="0"/>
            <a:chExt cx="177800" cy="177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77800" cy="177800"/>
            </a:xfrm>
            <a:custGeom>
              <a:avLst/>
              <a:gdLst/>
              <a:ahLst/>
              <a:cxnLst/>
              <a:rect r="r" b="b" t="t" l="l"/>
              <a:pathLst>
                <a:path h="177800" w="177800">
                  <a:moveTo>
                    <a:pt x="88900" y="0"/>
                  </a:moveTo>
                  <a:cubicBezTo>
                    <a:pt x="137998" y="0"/>
                    <a:pt x="177800" y="39802"/>
                    <a:pt x="177800" y="88900"/>
                  </a:cubicBezTo>
                  <a:cubicBezTo>
                    <a:pt x="177800" y="137998"/>
                    <a:pt x="137998" y="177800"/>
                    <a:pt x="88900" y="177800"/>
                  </a:cubicBezTo>
                  <a:cubicBezTo>
                    <a:pt x="39802" y="177800"/>
                    <a:pt x="0" y="137998"/>
                    <a:pt x="0" y="88900"/>
                  </a:cubicBezTo>
                  <a:cubicBezTo>
                    <a:pt x="0" y="39802"/>
                    <a:pt x="39802" y="0"/>
                    <a:pt x="88900" y="0"/>
                  </a:cubicBezTo>
                  <a:close/>
                </a:path>
              </a:pathLst>
            </a:custGeom>
            <a:solidFill>
              <a:srgbClr val="3F8065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36" id="36"/>
          <p:cNvSpPr txBox="true"/>
          <p:nvPr/>
        </p:nvSpPr>
        <p:spPr>
          <a:xfrm rot="0">
            <a:off x="1762125" y="7515225"/>
            <a:ext cx="6096000" cy="299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5"/>
              </a:lnSpc>
            </a:pPr>
            <a:r>
              <a:rPr lang="en-US" sz="1725">
                <a:solidFill>
                  <a:srgbClr val="182433"/>
                </a:solidFill>
                <a:latin typeface="Source Sans 3"/>
                <a:ea typeface="Source Sans 3"/>
                <a:cs typeface="Source Sans 3"/>
                <a:sym typeface="Source Sans 3"/>
              </a:rPr>
              <a:t>All foreign keys preserve referential integrity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9667875" y="3762375"/>
            <a:ext cx="133350" cy="133350"/>
            <a:chOff x="0" y="0"/>
            <a:chExt cx="177800" cy="177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77800" cy="177800"/>
            </a:xfrm>
            <a:custGeom>
              <a:avLst/>
              <a:gdLst/>
              <a:ahLst/>
              <a:cxnLst/>
              <a:rect r="r" b="b" t="t" l="l"/>
              <a:pathLst>
                <a:path h="177800" w="177800">
                  <a:moveTo>
                    <a:pt x="88900" y="0"/>
                  </a:moveTo>
                  <a:cubicBezTo>
                    <a:pt x="137998" y="0"/>
                    <a:pt x="177800" y="39802"/>
                    <a:pt x="177800" y="88900"/>
                  </a:cubicBezTo>
                  <a:cubicBezTo>
                    <a:pt x="177800" y="137998"/>
                    <a:pt x="137998" y="177800"/>
                    <a:pt x="88900" y="177800"/>
                  </a:cubicBezTo>
                  <a:cubicBezTo>
                    <a:pt x="39802" y="177800"/>
                    <a:pt x="0" y="137998"/>
                    <a:pt x="0" y="88900"/>
                  </a:cubicBezTo>
                  <a:cubicBezTo>
                    <a:pt x="0" y="39802"/>
                    <a:pt x="39802" y="0"/>
                    <a:pt x="88900" y="0"/>
                  </a:cubicBezTo>
                  <a:close/>
                </a:path>
              </a:pathLst>
            </a:custGeom>
            <a:solidFill>
              <a:srgbClr val="2F6FA3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39" id="39"/>
          <p:cNvSpPr txBox="true"/>
          <p:nvPr/>
        </p:nvSpPr>
        <p:spPr>
          <a:xfrm rot="0">
            <a:off x="10096500" y="3629025"/>
            <a:ext cx="6572250" cy="299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5"/>
              </a:lnSpc>
            </a:pPr>
            <a:r>
              <a:rPr lang="en-US" sz="1725">
                <a:solidFill>
                  <a:srgbClr val="182433"/>
                </a:solidFill>
                <a:latin typeface="Source Sans 3"/>
                <a:ea typeface="Source Sans 3"/>
                <a:cs typeface="Source Sans 3"/>
                <a:sym typeface="Source Sans 3"/>
              </a:rPr>
              <a:t>Normalize from 1NF to 3NF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9667875" y="4505325"/>
            <a:ext cx="133350" cy="133350"/>
            <a:chOff x="0" y="0"/>
            <a:chExt cx="177800" cy="1778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77800" cy="177800"/>
            </a:xfrm>
            <a:custGeom>
              <a:avLst/>
              <a:gdLst/>
              <a:ahLst/>
              <a:cxnLst/>
              <a:rect r="r" b="b" t="t" l="l"/>
              <a:pathLst>
                <a:path h="177800" w="177800">
                  <a:moveTo>
                    <a:pt x="88900" y="0"/>
                  </a:moveTo>
                  <a:cubicBezTo>
                    <a:pt x="137998" y="0"/>
                    <a:pt x="177800" y="39802"/>
                    <a:pt x="177800" y="88900"/>
                  </a:cubicBezTo>
                  <a:cubicBezTo>
                    <a:pt x="177800" y="137998"/>
                    <a:pt x="137998" y="177800"/>
                    <a:pt x="88900" y="177800"/>
                  </a:cubicBezTo>
                  <a:cubicBezTo>
                    <a:pt x="39802" y="177800"/>
                    <a:pt x="0" y="137998"/>
                    <a:pt x="0" y="88900"/>
                  </a:cubicBezTo>
                  <a:cubicBezTo>
                    <a:pt x="0" y="39802"/>
                    <a:pt x="39802" y="0"/>
                    <a:pt x="88900" y="0"/>
                  </a:cubicBezTo>
                  <a:close/>
                </a:path>
              </a:pathLst>
            </a:custGeom>
            <a:solidFill>
              <a:srgbClr val="2F6FA3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42" id="42"/>
          <p:cNvSpPr txBox="true"/>
          <p:nvPr/>
        </p:nvSpPr>
        <p:spPr>
          <a:xfrm rot="0">
            <a:off x="10096500" y="4371975"/>
            <a:ext cx="6572250" cy="299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5"/>
              </a:lnSpc>
            </a:pPr>
            <a:r>
              <a:rPr lang="en-US" sz="1725">
                <a:solidFill>
                  <a:srgbClr val="182433"/>
                </a:solidFill>
                <a:latin typeface="Source Sans 3"/>
                <a:ea typeface="Source Sans 3"/>
                <a:cs typeface="Source Sans 3"/>
                <a:sym typeface="Source Sans 3"/>
              </a:rPr>
              <a:t>Complete data dictionary, DDL, and constraints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9667875" y="5248275"/>
            <a:ext cx="133350" cy="133350"/>
            <a:chOff x="0" y="0"/>
            <a:chExt cx="177800" cy="1778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77800" cy="177800"/>
            </a:xfrm>
            <a:custGeom>
              <a:avLst/>
              <a:gdLst/>
              <a:ahLst/>
              <a:cxnLst/>
              <a:rect r="r" b="b" t="t" l="l"/>
              <a:pathLst>
                <a:path h="177800" w="177800">
                  <a:moveTo>
                    <a:pt x="88900" y="0"/>
                  </a:moveTo>
                  <a:cubicBezTo>
                    <a:pt x="137998" y="0"/>
                    <a:pt x="177800" y="39802"/>
                    <a:pt x="177800" y="88900"/>
                  </a:cubicBezTo>
                  <a:cubicBezTo>
                    <a:pt x="177800" y="137998"/>
                    <a:pt x="137998" y="177800"/>
                    <a:pt x="88900" y="177800"/>
                  </a:cubicBezTo>
                  <a:cubicBezTo>
                    <a:pt x="39802" y="177800"/>
                    <a:pt x="0" y="137998"/>
                    <a:pt x="0" y="88900"/>
                  </a:cubicBezTo>
                  <a:cubicBezTo>
                    <a:pt x="0" y="39802"/>
                    <a:pt x="39802" y="0"/>
                    <a:pt x="88900" y="0"/>
                  </a:cubicBezTo>
                  <a:close/>
                </a:path>
              </a:pathLst>
            </a:custGeom>
            <a:solidFill>
              <a:srgbClr val="2F6FA3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45" id="45"/>
          <p:cNvSpPr txBox="true"/>
          <p:nvPr/>
        </p:nvSpPr>
        <p:spPr>
          <a:xfrm rot="0">
            <a:off x="10096500" y="5114925"/>
            <a:ext cx="6572250" cy="299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5"/>
              </a:lnSpc>
            </a:pPr>
            <a:r>
              <a:rPr lang="en-US" sz="1725">
                <a:solidFill>
                  <a:srgbClr val="182433"/>
                </a:solidFill>
                <a:latin typeface="Source Sans 3"/>
                <a:ea typeface="Source Sans 3"/>
                <a:cs typeface="Source Sans 3"/>
                <a:sym typeface="Source Sans 3"/>
              </a:rPr>
              <a:t>Load sample data; build SQL queries and views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9667875" y="5991225"/>
            <a:ext cx="133350" cy="133350"/>
            <a:chOff x="0" y="0"/>
            <a:chExt cx="177800" cy="1778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77800" cy="177800"/>
            </a:xfrm>
            <a:custGeom>
              <a:avLst/>
              <a:gdLst/>
              <a:ahLst/>
              <a:cxnLst/>
              <a:rect r="r" b="b" t="t" l="l"/>
              <a:pathLst>
                <a:path h="177800" w="177800">
                  <a:moveTo>
                    <a:pt x="88900" y="0"/>
                  </a:moveTo>
                  <a:cubicBezTo>
                    <a:pt x="137998" y="0"/>
                    <a:pt x="177800" y="39802"/>
                    <a:pt x="177800" y="88900"/>
                  </a:cubicBezTo>
                  <a:cubicBezTo>
                    <a:pt x="177800" y="137998"/>
                    <a:pt x="137998" y="177800"/>
                    <a:pt x="88900" y="177800"/>
                  </a:cubicBezTo>
                  <a:cubicBezTo>
                    <a:pt x="39802" y="177800"/>
                    <a:pt x="0" y="137998"/>
                    <a:pt x="0" y="88900"/>
                  </a:cubicBezTo>
                  <a:cubicBezTo>
                    <a:pt x="0" y="39802"/>
                    <a:pt x="39802" y="0"/>
                    <a:pt x="88900" y="0"/>
                  </a:cubicBezTo>
                  <a:close/>
                </a:path>
              </a:pathLst>
            </a:custGeom>
            <a:solidFill>
              <a:srgbClr val="2F6FA3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48" id="48"/>
          <p:cNvSpPr txBox="true"/>
          <p:nvPr/>
        </p:nvSpPr>
        <p:spPr>
          <a:xfrm rot="0">
            <a:off x="10096500" y="5857875"/>
            <a:ext cx="6572250" cy="299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5"/>
              </a:lnSpc>
            </a:pPr>
            <a:r>
              <a:rPr lang="en-US" sz="1725">
                <a:solidFill>
                  <a:srgbClr val="182433"/>
                </a:solidFill>
                <a:latin typeface="Source Sans 3"/>
                <a:ea typeface="Source Sans 3"/>
                <a:cs typeface="Source Sans 3"/>
                <a:sym typeface="Source Sans 3"/>
              </a:rPr>
              <a:t>Generate operational and management reports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9667875" y="6734175"/>
            <a:ext cx="133350" cy="133350"/>
            <a:chOff x="0" y="0"/>
            <a:chExt cx="177800" cy="1778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77800" cy="177800"/>
            </a:xfrm>
            <a:custGeom>
              <a:avLst/>
              <a:gdLst/>
              <a:ahLst/>
              <a:cxnLst/>
              <a:rect r="r" b="b" t="t" l="l"/>
              <a:pathLst>
                <a:path h="177800" w="177800">
                  <a:moveTo>
                    <a:pt x="88900" y="0"/>
                  </a:moveTo>
                  <a:cubicBezTo>
                    <a:pt x="137998" y="0"/>
                    <a:pt x="177800" y="39802"/>
                    <a:pt x="177800" y="88900"/>
                  </a:cubicBezTo>
                  <a:cubicBezTo>
                    <a:pt x="177800" y="137998"/>
                    <a:pt x="137998" y="177800"/>
                    <a:pt x="88900" y="177800"/>
                  </a:cubicBezTo>
                  <a:cubicBezTo>
                    <a:pt x="39802" y="177800"/>
                    <a:pt x="0" y="137998"/>
                    <a:pt x="0" y="88900"/>
                  </a:cubicBezTo>
                  <a:cubicBezTo>
                    <a:pt x="0" y="39802"/>
                    <a:pt x="39802" y="0"/>
                    <a:pt x="88900" y="0"/>
                  </a:cubicBezTo>
                  <a:close/>
                </a:path>
              </a:pathLst>
            </a:custGeom>
            <a:solidFill>
              <a:srgbClr val="2F6FA3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51" id="51"/>
          <p:cNvSpPr txBox="true"/>
          <p:nvPr/>
        </p:nvSpPr>
        <p:spPr>
          <a:xfrm rot="0">
            <a:off x="10096500" y="6600825"/>
            <a:ext cx="6572250" cy="299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5"/>
              </a:lnSpc>
            </a:pPr>
            <a:r>
              <a:rPr lang="en-US" sz="1725">
                <a:solidFill>
                  <a:srgbClr val="182433"/>
                </a:solidFill>
                <a:latin typeface="Source Sans 3"/>
                <a:ea typeface="Source Sans 3"/>
                <a:cs typeface="Source Sans 3"/>
                <a:sym typeface="Source Sans 3"/>
              </a:rPr>
              <a:t>Develop Python / Java application connectivity</a:t>
            </a:r>
          </a:p>
        </p:txBody>
      </p:sp>
      <p:grpSp>
        <p:nvGrpSpPr>
          <p:cNvPr name="Group 52" id="52"/>
          <p:cNvGrpSpPr/>
          <p:nvPr/>
        </p:nvGrpSpPr>
        <p:grpSpPr>
          <a:xfrm rot="0">
            <a:off x="9667875" y="7477125"/>
            <a:ext cx="133350" cy="133350"/>
            <a:chOff x="0" y="0"/>
            <a:chExt cx="177800" cy="1778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77800" cy="177800"/>
            </a:xfrm>
            <a:custGeom>
              <a:avLst/>
              <a:gdLst/>
              <a:ahLst/>
              <a:cxnLst/>
              <a:rect r="r" b="b" t="t" l="l"/>
              <a:pathLst>
                <a:path h="177800" w="177800">
                  <a:moveTo>
                    <a:pt x="88900" y="0"/>
                  </a:moveTo>
                  <a:cubicBezTo>
                    <a:pt x="137998" y="0"/>
                    <a:pt x="177800" y="39802"/>
                    <a:pt x="177800" y="88900"/>
                  </a:cubicBezTo>
                  <a:cubicBezTo>
                    <a:pt x="177800" y="137998"/>
                    <a:pt x="137998" y="177800"/>
                    <a:pt x="88900" y="177800"/>
                  </a:cubicBezTo>
                  <a:cubicBezTo>
                    <a:pt x="39802" y="177800"/>
                    <a:pt x="0" y="137998"/>
                    <a:pt x="0" y="88900"/>
                  </a:cubicBezTo>
                  <a:cubicBezTo>
                    <a:pt x="0" y="39802"/>
                    <a:pt x="39802" y="0"/>
                    <a:pt x="88900" y="0"/>
                  </a:cubicBezTo>
                  <a:close/>
                </a:path>
              </a:pathLst>
            </a:custGeom>
            <a:solidFill>
              <a:srgbClr val="2F6FA3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54" id="54"/>
          <p:cNvSpPr txBox="true"/>
          <p:nvPr/>
        </p:nvSpPr>
        <p:spPr>
          <a:xfrm rot="0">
            <a:off x="10096500" y="7353300"/>
            <a:ext cx="657225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182433"/>
                </a:solidFill>
                <a:latin typeface="Source Sans 3"/>
                <a:ea typeface="Source Sans 3"/>
                <a:cs typeface="Source Sans 3"/>
                <a:sym typeface="Source Sans 3"/>
              </a:rPr>
              <a:t>Implement booking, pricing, tracking, scanning, assignment, updates, and testing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6573500" y="9667875"/>
            <a:ext cx="809625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b="true" sz="1500" spc="120">
                <a:solidFill>
                  <a:srgbClr val="2F6FA3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71450"/>
            <a:chOff x="0" y="0"/>
            <a:chExt cx="24384000" cy="228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28600"/>
            </a:xfrm>
            <a:custGeom>
              <a:avLst/>
              <a:gdLst/>
              <a:ahLst/>
              <a:cxnLst/>
              <a:rect r="r" b="b" t="t" l="l"/>
              <a:pathLst>
                <a:path h="2286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286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2F6FA3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266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144500" y="0"/>
            <a:ext cx="5143500" cy="10287000"/>
            <a:chOff x="0" y="0"/>
            <a:chExt cx="6858000" cy="13716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858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8F1F7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6858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28700" y="2381250"/>
            <a:ext cx="1143000" cy="76200"/>
            <a:chOff x="0" y="0"/>
            <a:chExt cx="1524000" cy="1016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24000" cy="101600"/>
            </a:xfrm>
            <a:custGeom>
              <a:avLst/>
              <a:gdLst/>
              <a:ahLst/>
              <a:cxnLst/>
              <a:rect r="r" b="b" t="t" l="l"/>
              <a:pathLst>
                <a:path h="101600" w="1524000">
                  <a:moveTo>
                    <a:pt x="0" y="0"/>
                  </a:moveTo>
                  <a:lnTo>
                    <a:pt x="1524000" y="0"/>
                  </a:lnTo>
                  <a:lnTo>
                    <a:pt x="15240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D7A84B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524000" cy="13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28700" y="2962275"/>
            <a:ext cx="10477500" cy="1166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72"/>
              </a:lnSpc>
            </a:pPr>
            <a:r>
              <a:rPr lang="en-US" sz="8400" b="true">
                <a:solidFill>
                  <a:srgbClr val="17365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Thank You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66800" y="4476750"/>
            <a:ext cx="8572500" cy="480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0"/>
              </a:lnSpc>
            </a:pPr>
            <a:r>
              <a:rPr lang="en-US" sz="2850" i="true">
                <a:solidFill>
                  <a:srgbClr val="607083"/>
                </a:solidFill>
                <a:latin typeface="Merriweather Italics"/>
                <a:ea typeface="Merriweather Italics"/>
                <a:cs typeface="Merriweather Italics"/>
                <a:sym typeface="Merriweather Italics"/>
              </a:rPr>
              <a:t>Questions &amp; Suggestions?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097000" y="4171950"/>
            <a:ext cx="3143250" cy="950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90"/>
              </a:lnSpc>
            </a:pPr>
            <a:r>
              <a:rPr lang="en-US" sz="6750" b="true">
                <a:solidFill>
                  <a:srgbClr val="17365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DAHS51ExM_8</dc:identifier>
  <dcterms:modified xsi:type="dcterms:W3CDTF">2011-08-01T06:04:30Z</dcterms:modified>
  <cp:revision>1</cp:revision>
  <dc:title>Copy of Untitled Design</dc:title>
</cp:coreProperties>
</file>