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Arimo Bold" charset="1" panose="020B0704020202020204"/>
      <p:regular r:id="rId20"/>
    </p:embeddedFont>
    <p:embeddedFont>
      <p:font typeface="Inter" charset="1" panose="02000503000000020004"/>
      <p:regular r:id="rId21"/>
    </p:embeddedFont>
    <p:embeddedFont>
      <p:font typeface="JetBrains Mono" charset="1" panose="02010509020102050004"/>
      <p:regular r:id="rId28"/>
    </p:embeddedFont>
    <p:embeddedFont>
      <p:font typeface="JetBrains Mono Bold" charset="1" panose="020108090301020500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jpe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4" id="4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333" r="0" b="-833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3000" y="1524000"/>
            <a:ext cx="114300" cy="4000500"/>
            <a:chOff x="0" y="0"/>
            <a:chExt cx="152400" cy="53340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524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38300" y="1524000"/>
            <a:ext cx="8572500" cy="295275"/>
            <a:chOff x="0" y="0"/>
            <a:chExt cx="11430000" cy="393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0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5694" r="0" b="-5156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430000" cy="45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 b="true">
                  <a:solidFill>
                    <a:srgbClr val="F5A6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DBMS PROJECT DEFENSE  ·  2026–2027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8300" y="2095500"/>
            <a:ext cx="10287000" cy="2400300"/>
            <a:chOff x="0" y="0"/>
            <a:chExt cx="13716000" cy="320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716000" cy="3257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Courier Parcel Booking &amp; Tracking Management 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38300" y="4943475"/>
            <a:ext cx="9525000" cy="400050"/>
            <a:chOff x="0" y="0"/>
            <a:chExt cx="12700000" cy="533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00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13929" r="0" b="-41392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27000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B8C7DE"/>
                  </a:solidFill>
                  <a:latin typeface="Inter"/>
                  <a:ea typeface="Inter"/>
                  <a:cs typeface="Inter"/>
                  <a:sym typeface="Inter"/>
                </a:rPr>
                <a:t>Design and Implementation of a Database Management System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6572250"/>
            <a:ext cx="9525000" cy="19050"/>
            <a:chOff x="0" y="0"/>
            <a:chExt cx="12700000" cy="254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2700000" cy="25400"/>
            </a:xfrm>
            <a:custGeom>
              <a:avLst/>
              <a:gdLst/>
              <a:ahLst/>
              <a:cxnLst/>
              <a:rect r="r" b="b" t="t" l="l"/>
              <a:pathLst>
                <a:path h="25400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4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7800" y="7048500"/>
            <a:ext cx="4953000" cy="2271040"/>
            <a:chOff x="0" y="0"/>
            <a:chExt cx="6604000" cy="30280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0" cy="3028054"/>
            </a:xfrm>
            <a:custGeom>
              <a:avLst/>
              <a:gdLst/>
              <a:ahLst/>
              <a:cxnLst/>
              <a:rect r="r" b="b" t="t" l="l"/>
              <a:pathLst>
                <a:path h="3028054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3028054"/>
                  </a:lnTo>
                  <a:lnTo>
                    <a:pt x="0" y="302805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21" t="0" r="-1321" b="127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42875"/>
              <a:ext cx="6604000" cy="3170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1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PROGRAM  ·  B.Tech</a:t>
              </a:r>
            </a:p>
            <a:p>
              <a:pPr algn="l">
                <a:lnSpc>
                  <a:spcPts val="3744"/>
                </a:lnSpc>
              </a:pPr>
              <a:r>
                <a:rPr lang="en-US" sz="1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BRANCH  ·  AI &amp; ML </a:t>
              </a:r>
            </a:p>
            <a:p>
              <a:pPr algn="l">
                <a:lnSpc>
                  <a:spcPts val="3744"/>
                </a:lnSpc>
              </a:pPr>
              <a:r>
                <a:rPr lang="en-US" sz="1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YEAR  ·  II Year</a:t>
              </a:r>
            </a:p>
            <a:p>
              <a:pPr algn="l">
                <a:lnSpc>
                  <a:spcPts val="3744"/>
                </a:lnSpc>
              </a:pPr>
              <a:r>
                <a:rPr lang="en-US" sz="1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COURSE  ·  Database Management Systems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77000" y="6953250"/>
            <a:ext cx="4572000" cy="800100"/>
            <a:chOff x="0" y="0"/>
            <a:chExt cx="6096000" cy="1066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6096000" cy="119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0"/>
                </a:lnSpc>
              </a:pPr>
              <a:r>
                <a:rPr lang="en-US" sz="2100" b="true">
                  <a:solidFill>
                    <a:srgbClr val="F5A62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Woxsen University, Hyderabad</a:t>
              </a:r>
            </a:p>
            <a:p>
              <a:pPr algn="l">
                <a:lnSpc>
                  <a:spcPts val="3780"/>
                </a:lnSpc>
              </a:pPr>
              <a:r>
                <a:rPr lang="en-US" sz="2100" b="true">
                  <a:solidFill>
                    <a:srgbClr val="F5A62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Academic Year 2026–2027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90700" y="5368750"/>
            <a:ext cx="8420100" cy="746300"/>
            <a:chOff x="0" y="0"/>
            <a:chExt cx="12700000" cy="11256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00000" cy="1125641"/>
            </a:xfrm>
            <a:custGeom>
              <a:avLst/>
              <a:gdLst/>
              <a:ahLst/>
              <a:cxnLst/>
              <a:rect r="r" b="b" t="t" l="l"/>
              <a:pathLst>
                <a:path h="1125641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1125641"/>
                  </a:lnTo>
                  <a:lnTo>
                    <a:pt x="0" y="112564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6146" r="0" b="-14353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2700000" cy="1211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B8C7DE"/>
                  </a:solidFill>
                  <a:latin typeface="Inter"/>
                  <a:ea typeface="Inter"/>
                  <a:cs typeface="Inter"/>
                  <a:sym typeface="Inter"/>
                </a:rPr>
                <a:t>Dara Keerthana(25WU0102125)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39500" y="0"/>
            <a:ext cx="7048500" cy="10287000"/>
            <a:chOff x="0" y="0"/>
            <a:chExt cx="9398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39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1143000"/>
            <a:ext cx="8572500" cy="276225"/>
            <a:chOff x="0" y="0"/>
            <a:chExt cx="11430000" cy="368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4708" r="0" b="-5547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43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D98A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  ·  INTRODUCTION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000" y="1714500"/>
            <a:ext cx="9144000" cy="1438275"/>
            <a:chOff x="0" y="0"/>
            <a:chExt cx="12192000" cy="1917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92000" cy="1917700"/>
            </a:xfrm>
            <a:custGeom>
              <a:avLst/>
              <a:gdLst/>
              <a:ahLst/>
              <a:cxnLst/>
              <a:rect r="r" b="b" t="t" l="l"/>
              <a:pathLst>
                <a:path h="19177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917700"/>
                  </a:lnTo>
                  <a:lnTo>
                    <a:pt x="0" y="1917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3878" r="0" b="-7387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192000" cy="198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04"/>
                </a:lnSpc>
              </a:pPr>
              <a:r>
                <a:rPr lang="en-US" sz="5400" b="true">
                  <a:solidFill>
                    <a:srgbClr val="0B1F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 web-based DBMS for every parcel's journey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000" y="4000500"/>
            <a:ext cx="8953500" cy="1162050"/>
            <a:chOff x="0" y="0"/>
            <a:chExt cx="11938000" cy="1549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9380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1549400"/>
                  </a:lnTo>
                  <a:lnTo>
                    <a:pt x="0" y="1549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130" r="0" b="-1001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1938000" cy="165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4"/>
                </a:lnSpc>
              </a:pPr>
              <a:r>
                <a:rPr lang="en-US" sz="2100">
                  <a:solidFill>
                    <a:srgbClr val="34445C"/>
                  </a:solidFill>
                  <a:latin typeface="Inter"/>
                  <a:ea typeface="Inter"/>
                  <a:cs typeface="Inter"/>
                  <a:sym typeface="Inter"/>
                </a:rPr>
                <a:t>The Courier Parcel Booking and Tracking Management System is a web application that manages courier operations end to end — from booking a parcel to confirming its delivery.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5720095"/>
            <a:ext cx="9824826" cy="2538080"/>
            <a:chOff x="0" y="0"/>
            <a:chExt cx="12192000" cy="314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3149600"/>
            </a:xfrm>
            <a:custGeom>
              <a:avLst/>
              <a:gdLst/>
              <a:ahLst/>
              <a:cxnLst/>
              <a:rect r="r" b="b" t="t" l="l"/>
              <a:pathLst>
                <a:path h="314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149600"/>
                  </a:lnTo>
                  <a:lnTo>
                    <a:pt x="0" y="314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425" r="0" b="-254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71450"/>
              <a:ext cx="12192000" cy="332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71462" indent="-135731" lvl="1">
                <a:lnSpc>
                  <a:spcPts val="4455"/>
                </a:lnSpc>
                <a:buFont typeface="Arial"/>
                <a:buChar char="•"/>
              </a:pPr>
              <a:r>
                <a:rPr lang="en-US" sz="225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Centralized storage of all courier data</a:t>
              </a:r>
            </a:p>
            <a:p>
              <a:pPr algn="l" marL="271462" indent="-135731" lvl="1">
                <a:lnSpc>
                  <a:spcPts val="4455"/>
                </a:lnSpc>
                <a:buFont typeface="Arial"/>
                <a:buChar char="•"/>
              </a:pPr>
              <a:r>
                <a:rPr lang="en-US" sz="225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Relational structure across 13 linked tables</a:t>
              </a:r>
            </a:p>
            <a:p>
              <a:pPr algn="l" marL="271462" indent="-135731" lvl="1">
                <a:lnSpc>
                  <a:spcPts val="4455"/>
                </a:lnSpc>
                <a:buFont typeface="Arial"/>
                <a:buChar char="•"/>
              </a:pPr>
              <a:r>
                <a:rPr lang="en-US" sz="225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Unique tracking number for every parcel</a:t>
              </a:r>
            </a:p>
            <a:p>
              <a:pPr algn="l" marL="271462" indent="-135731" lvl="1">
                <a:lnSpc>
                  <a:spcPts val="4455"/>
                </a:lnSpc>
                <a:buFont typeface="Arial"/>
                <a:buChar char="•"/>
              </a:pPr>
              <a:r>
                <a:rPr lang="en-US" sz="225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Bookings, scans, deliveries and payments in one place</a:t>
              </a:r>
            </a:p>
            <a:p>
              <a:pPr algn="l" marL="271462" indent="-135731" lvl="1">
                <a:lnSpc>
                  <a:spcPts val="4455"/>
                </a:lnSpc>
                <a:buFont typeface="Arial"/>
                <a:buChar char="•"/>
              </a:pPr>
              <a:r>
                <a:rPr lang="en-US" sz="225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Accurate records with enforced data integrity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11000" y="2476500"/>
            <a:ext cx="5905500" cy="3810000"/>
            <a:chOff x="0" y="0"/>
            <a:chExt cx="7874000" cy="508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74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5080000"/>
                  </a:lnTo>
                  <a:lnTo>
                    <a:pt x="0" y="5080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2776" t="0" r="-3277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7874000" cy="5175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19"/>
                </a:lnSpc>
              </a:pPr>
              <a:r>
                <a:rPr lang="en-US" sz="25599" b="true">
                  <a:solidFill>
                    <a:srgbClr val="F5A62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01500" y="6667500"/>
            <a:ext cx="5524500" cy="819150"/>
            <a:chOff x="0" y="0"/>
            <a:chExt cx="7366000" cy="1092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660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1092200"/>
                  </a:lnTo>
                  <a:lnTo>
                    <a:pt x="0" y="1092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410" r="0" b="-814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7366000" cy="118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relational tables powering one centralized courier database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52500"/>
            <a:ext cx="8572500" cy="276225"/>
            <a:chOff x="0" y="0"/>
            <a:chExt cx="11430000" cy="36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08" r="0" b="-5547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43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D98A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  ·  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1428750"/>
            <a:ext cx="14287500" cy="714375"/>
            <a:chOff x="0" y="0"/>
            <a:chExt cx="19050000" cy="95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50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90500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32"/>
                </a:lnSpc>
              </a:pPr>
              <a:r>
                <a:rPr lang="en-US" sz="5100" b="true">
                  <a:solidFill>
                    <a:srgbClr val="0B1F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Manual courier records break down at scale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3048000"/>
            <a:ext cx="2952750" cy="1495425"/>
            <a:chOff x="0" y="0"/>
            <a:chExt cx="3937000" cy="1993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37000" cy="1993900"/>
            </a:xfrm>
            <a:custGeom>
              <a:avLst/>
              <a:gdLst/>
              <a:ahLst/>
              <a:cxnLst/>
              <a:rect r="r" b="b" t="t" l="l"/>
              <a:pathLst>
                <a:path h="1993900" w="3937000">
                  <a:moveTo>
                    <a:pt x="0" y="0"/>
                  </a:moveTo>
                  <a:lnTo>
                    <a:pt x="3937000" y="0"/>
                  </a:lnTo>
                  <a:lnTo>
                    <a:pt x="3937000" y="1993900"/>
                  </a:lnTo>
                  <a:lnTo>
                    <a:pt x="0" y="199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79" t="0" r="-1497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3937000" cy="208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</a:p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Manual record maintenance is slow and error-prone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00550" y="3048000"/>
            <a:ext cx="2952750" cy="1123950"/>
            <a:chOff x="0" y="0"/>
            <a:chExt cx="3937000" cy="149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37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3937000">
                  <a:moveTo>
                    <a:pt x="0" y="0"/>
                  </a:moveTo>
                  <a:lnTo>
                    <a:pt x="3937000" y="0"/>
                  </a:lnTo>
                  <a:lnTo>
                    <a:pt x="3937000" y="1498600"/>
                  </a:lnTo>
                  <a:lnTo>
                    <a:pt x="0" y="1498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" r="0" b="-118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3937000" cy="159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</a:p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Data scattered across registers and files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58100" y="3048000"/>
            <a:ext cx="2952750" cy="1495425"/>
            <a:chOff x="0" y="0"/>
            <a:chExt cx="3937000" cy="1993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37000" cy="1993900"/>
            </a:xfrm>
            <a:custGeom>
              <a:avLst/>
              <a:gdLst/>
              <a:ahLst/>
              <a:cxnLst/>
              <a:rect r="r" b="b" t="t" l="l"/>
              <a:pathLst>
                <a:path h="1993900" w="3937000">
                  <a:moveTo>
                    <a:pt x="0" y="0"/>
                  </a:moveTo>
                  <a:lnTo>
                    <a:pt x="3937000" y="0"/>
                  </a:lnTo>
                  <a:lnTo>
                    <a:pt x="3937000" y="1993900"/>
                  </a:lnTo>
                  <a:lnTo>
                    <a:pt x="0" y="199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79" t="0" r="-1497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3937000" cy="208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</a:p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Tracking a parcel is complex and time-consuming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15650" y="3048000"/>
            <a:ext cx="2952750" cy="1123950"/>
            <a:chOff x="0" y="0"/>
            <a:chExt cx="3937000" cy="1498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7000" cy="1498600"/>
            </a:xfrm>
            <a:custGeom>
              <a:avLst/>
              <a:gdLst/>
              <a:ahLst/>
              <a:cxnLst/>
              <a:rect r="r" b="b" t="t" l="l"/>
              <a:pathLst>
                <a:path h="1498600" w="3937000">
                  <a:moveTo>
                    <a:pt x="0" y="0"/>
                  </a:moveTo>
                  <a:lnTo>
                    <a:pt x="3937000" y="0"/>
                  </a:lnTo>
                  <a:lnTo>
                    <a:pt x="3937000" y="1498600"/>
                  </a:lnTo>
                  <a:lnTo>
                    <a:pt x="0" y="1498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" r="0" b="-118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3937000" cy="1593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</a:p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Delivery attempts are not recorded properly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173200" y="3048000"/>
            <a:ext cx="2952750" cy="1495425"/>
            <a:chOff x="0" y="0"/>
            <a:chExt cx="3937000" cy="1993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37000" cy="1993900"/>
            </a:xfrm>
            <a:custGeom>
              <a:avLst/>
              <a:gdLst/>
              <a:ahLst/>
              <a:cxnLst/>
              <a:rect r="r" b="b" t="t" l="l"/>
              <a:pathLst>
                <a:path h="1993900" w="3937000">
                  <a:moveTo>
                    <a:pt x="0" y="0"/>
                  </a:moveTo>
                  <a:lnTo>
                    <a:pt x="3937000" y="0"/>
                  </a:lnTo>
                  <a:lnTo>
                    <a:pt x="3937000" y="1993900"/>
                  </a:lnTo>
                  <a:lnTo>
                    <a:pt x="0" y="199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79" t="0" r="-1497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3937000" cy="208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</a:p>
            <a:p>
              <a:pPr algn="l">
                <a:lnSpc>
                  <a:spcPts val="3528"/>
                </a:lnSpc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Reports and summaries are hard to generate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6667500"/>
            <a:ext cx="18288000" cy="3619500"/>
            <a:chOff x="0" y="0"/>
            <a:chExt cx="24384000" cy="48260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24384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826000"/>
                  </a:lnTo>
                  <a:lnTo>
                    <a:pt x="0" y="482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43000" y="7429500"/>
            <a:ext cx="4762500" cy="276225"/>
            <a:chOff x="0" y="0"/>
            <a:chExt cx="6350000" cy="3683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948" r="0" b="-2859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35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F5A6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PROPOSED SOLUTION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3000" y="8001000"/>
            <a:ext cx="16002000" cy="1095375"/>
            <a:chOff x="0" y="0"/>
            <a:chExt cx="21336000" cy="1460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36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460500"/>
                  </a:lnTo>
                  <a:lnTo>
                    <a:pt x="0" y="1460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650" r="0" b="-2346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21336000" cy="1565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 centralized relational database that manages the entire parcel lifecycle — from booking to delivery.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52500"/>
            <a:ext cx="8572500" cy="276225"/>
            <a:chOff x="0" y="0"/>
            <a:chExt cx="11430000" cy="36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08" r="0" b="-5547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43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D98A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  · 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1428750"/>
            <a:ext cx="14287500" cy="714375"/>
            <a:chOff x="0" y="0"/>
            <a:chExt cx="19050000" cy="95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50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90500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32"/>
                </a:lnSpc>
              </a:pPr>
              <a:r>
                <a:rPr lang="en-US" sz="5100" b="true">
                  <a:solidFill>
                    <a:srgbClr val="0B1F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What this project sets out to achieve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3048000"/>
            <a:ext cx="16002000" cy="6096000"/>
            <a:chOff x="0" y="0"/>
            <a:chExt cx="21336000" cy="8128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336000" cy="8128000"/>
            </a:xfrm>
            <a:custGeom>
              <a:avLst/>
              <a:gdLst/>
              <a:ahLst/>
              <a:cxnLst/>
              <a:rect r="r" b="b" t="t" l="l"/>
              <a:pathLst>
                <a:path h="8128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8128000"/>
                  </a:lnTo>
                  <a:lnTo>
                    <a:pt x="0" y="812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14500" y="3619500"/>
            <a:ext cx="7810500" cy="3288632"/>
            <a:chOff x="0" y="0"/>
            <a:chExt cx="9652000" cy="406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520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4064000"/>
                  </a:lnTo>
                  <a:lnTo>
                    <a:pt x="0" y="406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76225"/>
              <a:ext cx="9652000" cy="4340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9560" indent="-144780" lvl="1">
                <a:lnSpc>
                  <a:spcPts val="5759"/>
                </a:lnSpc>
                <a:buFont typeface="Arial"/>
                <a:buChar char="•"/>
              </a:pPr>
              <a:r>
                <a:rPr lang="en-US" sz="24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Design a well-structured relational database</a:t>
              </a:r>
            </a:p>
            <a:p>
              <a:pPr algn="l" marL="289560" indent="-144780" lvl="1">
                <a:lnSpc>
                  <a:spcPts val="5759"/>
                </a:lnSpc>
                <a:buFont typeface="Arial"/>
                <a:buChar char="•"/>
              </a:pPr>
              <a:r>
                <a:rPr lang="en-US" sz="24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Manage customer records efficiently</a:t>
              </a:r>
            </a:p>
            <a:p>
              <a:pPr algn="l" marL="289560" indent="-144780" lvl="1">
                <a:lnSpc>
                  <a:spcPts val="5759"/>
                </a:lnSpc>
                <a:buFont typeface="Arial"/>
                <a:buChar char="•"/>
              </a:pPr>
              <a:r>
                <a:rPr lang="en-US" sz="24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Handle parcel details and unique tracking</a:t>
              </a:r>
            </a:p>
            <a:p>
              <a:pPr algn="l" marL="289560" indent="-144780" lvl="1">
                <a:lnSpc>
                  <a:spcPts val="5759"/>
                </a:lnSpc>
                <a:buFont typeface="Arial"/>
                <a:buChar char="•"/>
              </a:pPr>
              <a:r>
                <a:rPr lang="en-US" sz="24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Process parcel bookings across branches</a:t>
              </a:r>
            </a:p>
            <a:p>
              <a:pPr algn="l" marL="289560" indent="-144780" lvl="1">
                <a:lnSpc>
                  <a:spcPts val="5759"/>
                </a:lnSpc>
                <a:buFont typeface="Arial"/>
                <a:buChar char="•"/>
              </a:pPr>
              <a:r>
                <a:rPr lang="en-US" sz="24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Record deliveries and delivery attempts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0" y="3619500"/>
            <a:ext cx="7239000" cy="2438400"/>
            <a:chOff x="0" y="0"/>
            <a:chExt cx="9652000" cy="325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52000" cy="3251200"/>
            </a:xfrm>
            <a:custGeom>
              <a:avLst/>
              <a:gdLst/>
              <a:ahLst/>
              <a:cxnLst/>
              <a:rect r="r" b="b" t="t" l="l"/>
              <a:pathLst>
                <a:path h="3251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3251200"/>
                  </a:lnTo>
                  <a:lnTo>
                    <a:pt x="0" y="325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76225"/>
              <a:ext cx="9652000" cy="3527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9560" indent="-144780" lvl="1">
                <a:lnSpc>
                  <a:spcPts val="5759"/>
                </a:lnSpc>
                <a:buFont typeface="Arial"/>
                <a:buChar char="•"/>
              </a:pPr>
              <a:r>
                <a:rPr lang="en-US" sz="24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Calculate charges and track payments</a:t>
              </a:r>
            </a:p>
            <a:p>
              <a:pPr algn="l" marL="289560" indent="-144780" lvl="1">
                <a:lnSpc>
                  <a:spcPts val="5759"/>
                </a:lnSpc>
                <a:buFont typeface="Arial"/>
                <a:buChar char="•"/>
              </a:pPr>
              <a:r>
                <a:rPr lang="en-US" sz="24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Perform SQL query operations on live data</a:t>
              </a:r>
            </a:p>
            <a:p>
              <a:pPr algn="l" marL="289560" indent="-144780" lvl="1">
                <a:lnSpc>
                  <a:spcPts val="5759"/>
                </a:lnSpc>
                <a:buFont typeface="Arial"/>
                <a:buChar char="•"/>
              </a:pPr>
              <a:r>
                <a:rPr lang="en-US" sz="24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Maintain data integrity with constraints</a:t>
              </a:r>
            </a:p>
            <a:p>
              <a:pPr algn="l" marL="289560" indent="-144780" lvl="1">
                <a:lnSpc>
                  <a:spcPts val="5759"/>
                </a:lnSpc>
                <a:buFont typeface="Arial"/>
                <a:buChar char="•"/>
              </a:pPr>
              <a:r>
                <a:rPr lang="en-US" sz="24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Provide a user-friendly web interface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3000" y="3048000"/>
            <a:ext cx="114300" cy="6096000"/>
            <a:chOff x="0" y="0"/>
            <a:chExt cx="152400" cy="81280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52400" cy="8128000"/>
            </a:xfrm>
            <a:custGeom>
              <a:avLst/>
              <a:gdLst/>
              <a:ahLst/>
              <a:cxnLst/>
              <a:rect r="r" b="b" t="t" l="l"/>
              <a:pathLst>
                <a:path h="81280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128000"/>
                  </a:lnTo>
                  <a:lnTo>
                    <a:pt x="0" y="812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52500"/>
            <a:ext cx="8572500" cy="276225"/>
            <a:chOff x="0" y="0"/>
            <a:chExt cx="11430000" cy="36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08" r="0" b="-5547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43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F5A6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  ·  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1428750"/>
            <a:ext cx="15240000" cy="714375"/>
            <a:chOff x="0" y="0"/>
            <a:chExt cx="20320000" cy="95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20000" cy="952500"/>
            </a:xfrm>
            <a:custGeom>
              <a:avLst/>
              <a:gdLst/>
              <a:ahLst/>
              <a:cxnLst/>
              <a:rect r="r" b="b" t="t" l="l"/>
              <a:pathLst>
                <a:path h="9525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680" r="0" b="-3656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0320000" cy="103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32"/>
                </a:lnSpc>
              </a:pPr>
              <a:r>
                <a:rPr lang="en-US" sz="51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Three tiers, one clean data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3143250"/>
            <a:ext cx="4572000" cy="3619500"/>
            <a:chOff x="0" y="0"/>
            <a:chExt cx="6096000" cy="482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6096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26000"/>
                  </a:lnTo>
                  <a:lnTo>
                    <a:pt x="0" y="482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19250" y="3524250"/>
            <a:ext cx="3810000" cy="1600200"/>
            <a:chOff x="0" y="0"/>
            <a:chExt cx="5080000" cy="2133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2133600"/>
                  </a:lnTo>
                  <a:lnTo>
                    <a:pt x="0" y="213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7" t="0" r="-388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5080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0"/>
                </a:lnSpc>
              </a:pPr>
              <a:r>
                <a:rPr lang="en-US" sz="2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 INTERFACE</a:t>
              </a:r>
            </a:p>
            <a:p>
              <a:pPr algn="l">
                <a:lnSpc>
                  <a:spcPts val="3780"/>
                </a:lnSpc>
              </a:pPr>
              <a:r>
                <a:rPr lang="en-US" sz="2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Web pages built with HTML5, CSS3 and JavaScript for booking, tracking and reports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10250" y="4895850"/>
            <a:ext cx="952500" cy="152400"/>
            <a:chOff x="0" y="0"/>
            <a:chExt cx="1270000" cy="2032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270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0" y="3143250"/>
            <a:ext cx="4572000" cy="3619500"/>
            <a:chOff x="0" y="0"/>
            <a:chExt cx="6096000" cy="48260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6096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26000"/>
                  </a:lnTo>
                  <a:lnTo>
                    <a:pt x="0" y="482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34250" y="3524250"/>
            <a:ext cx="3810000" cy="1600200"/>
            <a:chOff x="0" y="0"/>
            <a:chExt cx="5080000" cy="2133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2133600"/>
                  </a:lnTo>
                  <a:lnTo>
                    <a:pt x="0" y="213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7" t="0" r="-388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5080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0"/>
                </a:lnSpc>
              </a:pPr>
              <a:r>
                <a:rPr lang="en-US" sz="2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FLASK BACKEND</a:t>
              </a:r>
            </a:p>
            <a:p>
              <a:pPr algn="l">
                <a:lnSpc>
                  <a:spcPts val="3780"/>
                </a:lnSpc>
              </a:pPr>
              <a:r>
                <a:rPr lang="en-US" sz="2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Python application logic handles routes, forms, validation and SQL queries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25250" y="4895850"/>
            <a:ext cx="952500" cy="152400"/>
            <a:chOff x="0" y="0"/>
            <a:chExt cx="1270000" cy="2032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270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573000" y="3143250"/>
            <a:ext cx="4572000" cy="3619500"/>
            <a:chOff x="0" y="0"/>
            <a:chExt cx="6096000" cy="48260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6096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26000"/>
                  </a:lnTo>
                  <a:lnTo>
                    <a:pt x="0" y="482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49250" y="3524250"/>
            <a:ext cx="3810000" cy="1600200"/>
            <a:chOff x="0" y="0"/>
            <a:chExt cx="5080000" cy="2133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2133600"/>
                  </a:lnTo>
                  <a:lnTo>
                    <a:pt x="0" y="213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87" t="0" r="-388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5080000" cy="2247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80"/>
                </a:lnSpc>
              </a:pPr>
              <a:r>
                <a:rPr lang="en-US" sz="2100" b="true">
                  <a:solidFill>
                    <a:srgbClr val="0B1F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SQLITE DATABASE</a:t>
              </a:r>
            </a:p>
            <a:p>
              <a:pPr algn="l">
                <a:lnSpc>
                  <a:spcPts val="3780"/>
                </a:lnSpc>
              </a:pPr>
              <a:r>
                <a:rPr lang="en-US" sz="2100" b="true">
                  <a:solidFill>
                    <a:srgbClr val="0B1F3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courier.db with 13 relational tables linked by primary and foreign keys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" y="7620000"/>
            <a:ext cx="5715000" cy="276225"/>
            <a:chOff x="0" y="0"/>
            <a:chExt cx="7620000" cy="3683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138" r="0" b="-35313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2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F5A6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TECHNOLOGY STACK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3000" y="8191500"/>
            <a:ext cx="16002000" cy="495300"/>
            <a:chOff x="0" y="0"/>
            <a:chExt cx="21336000" cy="660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36000" cy="660400"/>
            </a:xfrm>
            <a:custGeom>
              <a:avLst/>
              <a:gdLst/>
              <a:ahLst/>
              <a:cxnLst/>
              <a:rect r="r" b="b" t="t" l="l"/>
              <a:pathLst>
                <a:path h="6604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9516" r="0" b="-5795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21336000" cy="774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HTML5   ·   CSS3   ·   JavaScript   ·   Python   ·   Flask   ·   SQLite   ·   Replit   ·   GitHub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762000"/>
            <a:ext cx="8572500" cy="276225"/>
            <a:chOff x="0" y="0"/>
            <a:chExt cx="11430000" cy="36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08" r="0" b="-5547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43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D98A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05  ·  ER DIAGRAM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1190625"/>
            <a:ext cx="15240000" cy="628650"/>
            <a:chOff x="0" y="0"/>
            <a:chExt cx="20320000" cy="838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20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364" r="0" b="-4223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3200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0B1F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13 entities, one connected parcel story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2667000"/>
            <a:ext cx="16002000" cy="38100"/>
            <a:chOff x="0" y="0"/>
            <a:chExt cx="21336000" cy="508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336000" cy="50800"/>
            </a:xfrm>
            <a:custGeom>
              <a:avLst/>
              <a:gdLst/>
              <a:ahLst/>
              <a:cxnLst/>
              <a:rect r="r" b="b" t="t" l="l"/>
              <a:pathLst>
                <a:path h="508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24000" y="2358009"/>
            <a:ext cx="15240000" cy="7596378"/>
            <a:chOff x="0" y="0"/>
            <a:chExt cx="20320000" cy="10128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00" cy="10128503"/>
            </a:xfrm>
            <a:custGeom>
              <a:avLst/>
              <a:gdLst/>
              <a:ahLst/>
              <a:cxnLst/>
              <a:rect r="r" b="b" t="t" l="l"/>
              <a:pathLst>
                <a:path h="10128503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0128503"/>
                  </a:lnTo>
                  <a:lnTo>
                    <a:pt x="0" y="101285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53" r="0" b="567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0320000" cy="10204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106355" y="1785070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90" y="0"/>
                </a:lnTo>
                <a:lnTo>
                  <a:pt x="1007529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52500"/>
            <a:ext cx="8572500" cy="276225"/>
            <a:chOff x="0" y="0"/>
            <a:chExt cx="11430000" cy="36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08" r="0" b="-5547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43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D98A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06  ·  RELATIONAL SCHEMA &amp; NORMALIZATION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1428750"/>
            <a:ext cx="15240000" cy="666750"/>
            <a:chOff x="0" y="0"/>
            <a:chExt cx="20320000" cy="88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2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320000" cy="965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336"/>
                </a:lnSpc>
              </a:pPr>
              <a:r>
                <a:rPr lang="en-US" sz="4800" b="true">
                  <a:solidFill>
                    <a:srgbClr val="0B1F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Normalized to 3NF, keyed for consistency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2952750"/>
            <a:ext cx="9525000" cy="6286500"/>
            <a:chOff x="0" y="0"/>
            <a:chExt cx="12700000" cy="8382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700000" cy="8382000"/>
            </a:xfrm>
            <a:custGeom>
              <a:avLst/>
              <a:gdLst/>
              <a:ahLst/>
              <a:cxnLst/>
              <a:rect r="r" b="b" t="t" l="l"/>
              <a:pathLst>
                <a:path h="8382000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8382000"/>
                  </a:lnTo>
                  <a:lnTo>
                    <a:pt x="0" y="838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19250" y="3333750"/>
            <a:ext cx="9048750" cy="2970351"/>
            <a:chOff x="0" y="0"/>
            <a:chExt cx="11684000" cy="3835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84000" cy="3835400"/>
            </a:xfrm>
            <a:custGeom>
              <a:avLst/>
              <a:gdLst/>
              <a:ahLst/>
              <a:cxnLst/>
              <a:rect r="r" b="b" t="t" l="l"/>
              <a:pathLst>
                <a:path h="38354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8" r="0" b="-935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11684000" cy="393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3"/>
                </a:lnSpc>
              </a:pPr>
              <a:r>
                <a:rPr lang="en-US" sz="195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CUSTOMER (customer_id PK, name, phone UNIQUE, email, address)</a:t>
              </a:r>
            </a:p>
            <a:p>
              <a:pPr algn="l">
                <a:lnSpc>
                  <a:spcPts val="3393"/>
                </a:lnSpc>
              </a:pPr>
              <a:r>
                <a:rPr lang="en-US" sz="195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BOOKING (booking_id PK, customer_id FK, branch_id FK, service_type_id FK, booking_date)</a:t>
              </a:r>
            </a:p>
            <a:p>
              <a:pPr algn="l">
                <a:lnSpc>
                  <a:spcPts val="3393"/>
                </a:lnSpc>
              </a:pPr>
              <a:r>
                <a:rPr lang="en-US" sz="195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PARCEL (parcel_id PK, booking_id FK, tracking_no UNIQUE, weight, status)</a:t>
              </a:r>
            </a:p>
            <a:p>
              <a:pPr algn="l">
                <a:lnSpc>
                  <a:spcPts val="3393"/>
                </a:lnSpc>
              </a:pPr>
              <a:r>
                <a:rPr lang="en-US" sz="195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PAYMENT (payment_id PK, charge_id FK, amount, mode, paid_on)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0" y="3048000"/>
            <a:ext cx="5715000" cy="3200400"/>
            <a:chOff x="0" y="0"/>
            <a:chExt cx="7620000" cy="426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49" t="0" r="-2184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7620000" cy="4371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225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1NF — atomic values, no repeating groups</a:t>
              </a:r>
            </a:p>
            <a:p>
              <a:pPr algn="l">
                <a:lnSpc>
                  <a:spcPts val="3779"/>
                </a:lnSpc>
              </a:pPr>
              <a:r>
                <a:rPr lang="en-US" sz="225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2NF — every attribute depends on the whole primary key</a:t>
              </a:r>
            </a:p>
            <a:p>
              <a:pPr algn="l">
                <a:lnSpc>
                  <a:spcPts val="3779"/>
                </a:lnSpc>
              </a:pPr>
              <a:r>
                <a:rPr lang="en-US" sz="225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3NF — no transitive dependencies; each fact stored once</a:t>
              </a:r>
            </a:p>
            <a:p>
              <a:pPr algn="l">
                <a:lnSpc>
                  <a:spcPts val="3779"/>
                </a:lnSpc>
              </a:pPr>
              <a:r>
                <a:rPr lang="en-US" sz="225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Result: less redundancy, stronger integrity and consistent data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952500"/>
            <a:ext cx="8572500" cy="276225"/>
            <a:chOff x="0" y="0"/>
            <a:chExt cx="11430000" cy="36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08" r="0" b="-5547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43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D98A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07  ·  DATABASE DESIGN &amp; SQL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1428750"/>
            <a:ext cx="15240000" cy="752475"/>
            <a:chOff x="0" y="0"/>
            <a:chExt cx="20320000" cy="1003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20000" cy="1003300"/>
            </a:xfrm>
            <a:custGeom>
              <a:avLst/>
              <a:gdLst/>
              <a:ahLst/>
              <a:cxnLst/>
              <a:rect r="r" b="b" t="t" l="l"/>
              <a:pathLst>
                <a:path h="10033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1003300"/>
                  </a:lnTo>
                  <a:lnTo>
                    <a:pt x="0" y="1003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633" r="0" b="-34463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320000" cy="1079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5400" b="true">
                  <a:solidFill>
                    <a:srgbClr val="0B1F3A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Inside courier.db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857500"/>
            <a:ext cx="18288000" cy="2667000"/>
            <a:chOff x="0" y="0"/>
            <a:chExt cx="24384000" cy="355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556000"/>
                  </a:lnTo>
                  <a:lnTo>
                    <a:pt x="0" y="355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3238500"/>
            <a:ext cx="16002000" cy="1095375"/>
            <a:chOff x="0" y="0"/>
            <a:chExt cx="21336000" cy="1460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460500"/>
                  </a:lnTo>
                  <a:lnTo>
                    <a:pt x="0" y="1460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650" r="0" b="-23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21336000" cy="1565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3600" b="true">
                  <a:solidFill>
                    <a:srgbClr val="F5A62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13 tables      50 customers      120 parcels      120 bookings      300+ scan events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4476750"/>
            <a:ext cx="16002000" cy="323850"/>
            <a:chOff x="0" y="0"/>
            <a:chExt cx="21336000" cy="431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431800"/>
            </a:xfrm>
            <a:custGeom>
              <a:avLst/>
              <a:gdLst/>
              <a:ahLst/>
              <a:cxnLst/>
              <a:rect r="r" b="b" t="t" l="l"/>
              <a:pathLst>
                <a:path h="4318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1800"/>
                  </a:lnTo>
                  <a:lnTo>
                    <a:pt x="0" y="43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790" r="0" b="-91279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1336000" cy="508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B8C7DE"/>
                  </a:solidFill>
                  <a:latin typeface="Inter"/>
                  <a:ea typeface="Inter"/>
                  <a:cs typeface="Inter"/>
                  <a:sym typeface="Inter"/>
                </a:rPr>
                <a:t>Sample data loaded across all tables for realistic testing of queries and reports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3000" y="6096000"/>
            <a:ext cx="7429500" cy="276225"/>
            <a:chOff x="0" y="0"/>
            <a:chExt cx="9906000" cy="368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06000" cy="368300"/>
            </a:xfrm>
            <a:custGeom>
              <a:avLst/>
              <a:gdLst/>
              <a:ahLst/>
              <a:cxnLst/>
              <a:rect r="r" b="b" t="t" l="l"/>
              <a:pathLst>
                <a:path h="3683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080" r="0" b="-4740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906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D98A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SQL OPERATIONS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3000" y="6667500"/>
            <a:ext cx="7429500" cy="1257300"/>
            <a:chOff x="0" y="0"/>
            <a:chExt cx="9906000" cy="167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060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0"/>
              <a:ext cx="99060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3300" b="true">
                  <a:solidFill>
                    <a:srgbClr val="0B1F3A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CREATE · INSERT · SELECT</a:t>
              </a:r>
            </a:p>
            <a:p>
              <a:pPr algn="l">
                <a:lnSpc>
                  <a:spcPts val="5940"/>
                </a:lnSpc>
              </a:pPr>
              <a:r>
                <a:rPr lang="en-US" sz="3300" b="true">
                  <a:solidFill>
                    <a:srgbClr val="0B1F3A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UPDATE · DELETE · JOIN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15500" y="6096000"/>
            <a:ext cx="7429500" cy="276225"/>
            <a:chOff x="0" y="0"/>
            <a:chExt cx="9906000" cy="368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06000" cy="368300"/>
            </a:xfrm>
            <a:custGeom>
              <a:avLst/>
              <a:gdLst/>
              <a:ahLst/>
              <a:cxnLst/>
              <a:rect r="r" b="b" t="t" l="l"/>
              <a:pathLst>
                <a:path h="3683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080" r="0" b="-4740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906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D98A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INTEGRITY CONSTRAINTS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15500" y="6667500"/>
            <a:ext cx="8157489" cy="2196247"/>
            <a:chOff x="0" y="0"/>
            <a:chExt cx="9906000" cy="266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06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667000"/>
                  </a:lnTo>
                  <a:lnTo>
                    <a:pt x="0" y="266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14300"/>
              <a:ext cx="990600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53365" indent="-126682" lvl="1">
                <a:lnSpc>
                  <a:spcPts val="3780"/>
                </a:lnSpc>
                <a:buFont typeface="Arial"/>
                <a:buChar char="•"/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PRIMARY KEY and FOREIGN KEY links</a:t>
              </a:r>
            </a:p>
            <a:p>
              <a:pPr algn="l" marL="253365" indent="-126682" lvl="1">
                <a:lnSpc>
                  <a:spcPts val="3780"/>
                </a:lnSpc>
                <a:buFont typeface="Arial"/>
                <a:buChar char="•"/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NOT NULL for required fields</a:t>
              </a:r>
            </a:p>
            <a:p>
              <a:pPr algn="l" marL="253365" indent="-126682" lvl="1">
                <a:lnSpc>
                  <a:spcPts val="3780"/>
                </a:lnSpc>
                <a:buFont typeface="Arial"/>
                <a:buChar char="•"/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UNIQUE tracking numbers</a:t>
              </a:r>
            </a:p>
            <a:p>
              <a:pPr algn="l" marL="253365" indent="-126682" lvl="1">
                <a:lnSpc>
                  <a:spcPts val="3780"/>
                </a:lnSpc>
                <a:buFont typeface="Arial"/>
                <a:buChar char="•"/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CHECK on weight, amount, status</a:t>
              </a:r>
            </a:p>
            <a:p>
              <a:pPr algn="l" marL="253365" indent="-126682" lvl="1">
                <a:lnSpc>
                  <a:spcPts val="3780"/>
                </a:lnSpc>
                <a:buFont typeface="Arial"/>
                <a:buChar char="•"/>
              </a:pPr>
              <a:r>
                <a:rPr lang="en-US" sz="2100">
                  <a:solidFill>
                    <a:srgbClr val="0B1F3A"/>
                  </a:solidFill>
                  <a:latin typeface="Inter"/>
                  <a:ea typeface="Inter"/>
                  <a:cs typeface="Inter"/>
                  <a:sym typeface="Inter"/>
                </a:rPr>
                <a:t>AUTOINCREMENT identifiers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857250"/>
            <a:ext cx="8572500" cy="276225"/>
            <a:chOff x="0" y="0"/>
            <a:chExt cx="11430000" cy="36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08" r="0" b="-5547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43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F5A62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08  ·  KEY QUERIES &amp; OUTPUTS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1333500"/>
            <a:ext cx="15240000" cy="628650"/>
            <a:chOff x="0" y="0"/>
            <a:chExt cx="20320000" cy="838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20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364" r="0" b="-4223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3200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Queries that answer real questions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2667000"/>
            <a:ext cx="7810500" cy="3238500"/>
            <a:chOff x="0" y="0"/>
            <a:chExt cx="10414000" cy="4318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414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4318000"/>
                  </a:lnTo>
                  <a:lnTo>
                    <a:pt x="0" y="431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24000" y="2905125"/>
            <a:ext cx="8191500" cy="1940092"/>
            <a:chOff x="0" y="0"/>
            <a:chExt cx="96520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5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9652000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-- Booking details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SELECT b.booking_id, c.name, p.tracking_no, s.name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FROM booking b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JOIN customer c ON b.customer_id = c.customer_id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JOIN parcel p ON p.booking_id = b.booking_id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JOIN service_type s ON b.service_type_id = s.service_type_id;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34500" y="2667000"/>
            <a:ext cx="7810500" cy="3238500"/>
            <a:chOff x="0" y="0"/>
            <a:chExt cx="10414000" cy="43180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4140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4318000"/>
                  </a:lnTo>
                  <a:lnTo>
                    <a:pt x="0" y="431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715500" y="2905125"/>
            <a:ext cx="8572500" cy="2030329"/>
            <a:chOff x="0" y="0"/>
            <a:chExt cx="9652000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52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9652000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-- Parcel tracking history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SELECT p.tracking_no, e.status, h.hub_name, e.scan_time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FROM scan_event e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JOIN parcel p ON e.parcel_id = p.parcel_id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JOIN hub h ON e.hub_id = h.hub_id</a:t>
              </a:r>
            </a:p>
            <a:p>
              <a:pPr algn="l">
                <a:lnSpc>
                  <a:spcPts val="2700"/>
                </a:lnSpc>
              </a:pPr>
              <a:r>
                <a:rPr lang="en-US" sz="15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WHERE p.tracking_no = 'CPX1024' ORDER BY e.scan_time;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663404" y="6286500"/>
            <a:ext cx="5143500" cy="2895600"/>
            <a:chOff x="0" y="0"/>
            <a:chExt cx="6858000" cy="386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0" cy="3860800"/>
            </a:xfrm>
            <a:custGeom>
              <a:avLst/>
              <a:gdLst/>
              <a:ahLst/>
              <a:cxnLst/>
              <a:rect r="r" b="b" t="t" l="l"/>
              <a:pathLst>
                <a:path h="38608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860800"/>
                  </a:lnTo>
                  <a:lnTo>
                    <a:pt x="0" y="386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79" r="0" b="-217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25308" y="6219825"/>
            <a:ext cx="5143500" cy="2895600"/>
            <a:chOff x="0" y="0"/>
            <a:chExt cx="6858000" cy="386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3860800"/>
            </a:xfrm>
            <a:custGeom>
              <a:avLst/>
              <a:gdLst/>
              <a:ahLst/>
              <a:cxnLst/>
              <a:rect r="r" b="b" t="t" l="l"/>
              <a:pathLst>
                <a:path h="38608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860800"/>
                  </a:lnTo>
                  <a:lnTo>
                    <a:pt x="0" y="386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179" r="0" b="-217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01500" y="6286500"/>
            <a:ext cx="5143500" cy="2895600"/>
            <a:chOff x="0" y="0"/>
            <a:chExt cx="6858000" cy="386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58000" cy="3860800"/>
            </a:xfrm>
            <a:custGeom>
              <a:avLst/>
              <a:gdLst/>
              <a:ahLst/>
              <a:cxnLst/>
              <a:rect r="r" b="b" t="t" l="l"/>
              <a:pathLst>
                <a:path h="38608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3860800"/>
                  </a:lnTo>
                  <a:lnTo>
                    <a:pt x="0" y="386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179" r="0" b="-217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3000" y="9429750"/>
            <a:ext cx="16002000" cy="276225"/>
            <a:chOff x="0" y="0"/>
            <a:chExt cx="21336000" cy="3683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36000" cy="368300"/>
            </a:xfrm>
            <a:custGeom>
              <a:avLst/>
              <a:gdLst/>
              <a:ahLst/>
              <a:cxnLst/>
              <a:rect r="r" b="b" t="t" l="l"/>
              <a:pathLst>
                <a:path h="3683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8788" r="0" b="-107878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336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B8C7DE"/>
                  </a:solidFill>
                  <a:latin typeface="Inter"/>
                  <a:ea typeface="Inter"/>
                  <a:cs typeface="Inter"/>
                  <a:sym typeface="Inter"/>
                </a:rPr>
                <a:t>Live outputs: booking details  ·  parcel tracking history  ·  payment summary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857250"/>
            <a:ext cx="8572500" cy="276225"/>
            <a:chOff x="0" y="0"/>
            <a:chExt cx="11430000" cy="368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368300"/>
            </a:xfrm>
            <a:custGeom>
              <a:avLst/>
              <a:gdLst/>
              <a:ahLst/>
              <a:cxnLst/>
              <a:rect r="r" b="b" t="t" l="l"/>
              <a:pathLst>
                <a:path h="368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368300"/>
                  </a:lnTo>
                  <a:lnTo>
                    <a:pt x="0" y="368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4708" r="0" b="-5547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430000" cy="40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 b="true">
                  <a:solidFill>
                    <a:srgbClr val="D98A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09  ·  USER INTERFACE &amp;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1333500"/>
            <a:ext cx="15240000" cy="628650"/>
            <a:chOff x="0" y="0"/>
            <a:chExt cx="20320000" cy="838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20000" cy="838200"/>
            </a:xfrm>
            <a:custGeom>
              <a:avLst/>
              <a:gdLst/>
              <a:ahLst/>
              <a:cxnLst/>
              <a:rect r="r" b="b" t="t" l="l"/>
              <a:pathLst>
                <a:path h="838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364" r="0" b="-4223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3200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4500" b="true">
                  <a:solidFill>
                    <a:srgbClr val="0B1F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Full CRUD, one friendly web app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2667000"/>
            <a:ext cx="5715000" cy="6667500"/>
            <a:chOff x="0" y="0"/>
            <a:chExt cx="7620000" cy="8890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62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8890000"/>
                  </a:lnTo>
                  <a:lnTo>
                    <a:pt x="0" y="889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19250" y="3048000"/>
            <a:ext cx="4953000" cy="4505325"/>
            <a:chOff x="0" y="0"/>
            <a:chExt cx="6604000" cy="6007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0" cy="6007100"/>
            </a:xfrm>
            <a:custGeom>
              <a:avLst/>
              <a:gdLst/>
              <a:ahLst/>
              <a:cxnLst/>
              <a:rect r="r" b="b" t="t" l="l"/>
              <a:pathLst>
                <a:path h="60071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007100"/>
                  </a:lnTo>
                  <a:lnTo>
                    <a:pt x="0" y="6007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706" t="0" r="-6670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00025"/>
              <a:ext cx="6604000" cy="620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71462" indent="-135731" lvl="1">
                <a:lnSpc>
                  <a:spcPts val="4725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Dashboard with live summary</a:t>
              </a:r>
            </a:p>
            <a:p>
              <a:pPr algn="l" marL="271462" indent="-135731" lvl="1">
                <a:lnSpc>
                  <a:spcPts val="4725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Customer management</a:t>
              </a:r>
            </a:p>
            <a:p>
              <a:pPr algn="l" marL="271462" indent="-135731" lvl="1">
                <a:lnSpc>
                  <a:spcPts val="4725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Parcel management</a:t>
              </a:r>
            </a:p>
            <a:p>
              <a:pPr algn="l" marL="271462" indent="-135731" lvl="1">
                <a:lnSpc>
                  <a:spcPts val="4725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Booking management</a:t>
              </a:r>
            </a:p>
            <a:p>
              <a:pPr algn="l" marL="271462" indent="-135731" lvl="1">
                <a:lnSpc>
                  <a:spcPts val="4725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Parcel tracking by number</a:t>
              </a:r>
            </a:p>
            <a:p>
              <a:pPr algn="l" marL="271462" indent="-135731" lvl="1">
                <a:lnSpc>
                  <a:spcPts val="4725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Delivery attempts</a:t>
              </a:r>
            </a:p>
            <a:p>
              <a:pPr algn="l" marL="271462" indent="-135731" lvl="1">
                <a:lnSpc>
                  <a:spcPts val="4725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Reports</a:t>
              </a:r>
            </a:p>
            <a:p>
              <a:pPr algn="l" marL="271462" indent="-135731" lvl="1">
                <a:lnSpc>
                  <a:spcPts val="4725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Charges and payments</a:t>
              </a:r>
            </a:p>
            <a:p>
              <a:pPr algn="l" marL="271462" indent="-135731" lvl="1">
                <a:lnSpc>
                  <a:spcPts val="4725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Create, read, update, delete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39000" y="2667000"/>
            <a:ext cx="9906000" cy="6667500"/>
            <a:chOff x="0" y="0"/>
            <a:chExt cx="13208000" cy="889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08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8890000"/>
                  </a:lnTo>
                  <a:lnTo>
                    <a:pt x="0" y="889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46" t="0" r="-3846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DAHXNjjqDN4</dc:identifier>
  <dcterms:modified xsi:type="dcterms:W3CDTF">2011-08-01T06:04:30Z</dcterms:modified>
  <cp:revision>1</cp:revision>
  <dc:title>Courier Database Project Defense Presentation.pptx</dc:title>
</cp:coreProperties>
</file>